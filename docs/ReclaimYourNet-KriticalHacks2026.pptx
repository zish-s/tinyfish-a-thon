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number: five forms, five organisations, no one telling you which matter. Then: 'we built the thing that does that list for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24-hour freeze window is the hook. A platform report is not a legal record - a bank will not reverse without a complaint, and a court needs an FIR. Most people find that out too 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nine stages quickly. The line that matters: 'the agent reads the form it actually has today, not the one we screenshotted last year'.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seconds per row. The point is that every row is a real workflow we support today, not a roadmap item.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model: it is small, local, and explainable. 'money contributed +2.1 to fraud' is a sentence a person can check. The agent does the part an LLM cannot - read a live page.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mandatory slide. Four surfaces, each with a 'what it replaces'. Finish on the sandbox toggle: 'a judge can verify this in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only. The stateless one is the engineering story judges like: serverless forgets between requests, so we made the whole app a pure function of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slide. Run the demo. The timings on this slide are what you say while you wait.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analysis is the product. Most victims do not know what they have not covered.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for the victim, paid for the organisations. Show the real unit cost - about Rs 25-50 per case - and say that a Rs 499 plan keeps 90 paise in every rupee.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already running. Give the URL. Say the measured numbers: 2 seconds to find the portals, 70 seconds to read the form, 100 seconds to file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to three items. Item 2 is the good one: outcome tracking turns a reporting tool into a market-size argument.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Mobile-first with authenticated filing, an open channel graph, and two NGO pilots.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The point is the core has no dependencies and the evaluation is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this. It is here so the form can be filled quickly.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in the loop twice. The agent will not guess a required field. That is a feature, and it is shown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appendix for the question 'how does a first-time user actually use this'. Each statement has an action attached to it - that was the design rule.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3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4630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058400" cy="457200"/>
          </a:xfrm>
          <a:prstGeom prst="rect">
            <a:avLst/>
          </a:prstGeom>
          <a:noFill/>
        </p:spPr>
        <p:txBody>
          <a:bodyPr wrap="square">
            <a:spAutoFit/>
          </a:bodyPr>
          <a:lstStyle/>
          <a:p>
            <a:pPr>
              <a:lnSpc>
                <a:spcPct val="100000"/>
              </a:lnSpc>
            </a:pPr>
            <a:r>
              <a:rPr sz="1500" b="1">
                <a:solidFill>
                  <a:srgbClr val="F2603F"/>
                </a:solidFill>
                <a:latin typeface="Inter"/>
              </a:rPr>
              <a:t>RECLAIMYOURNET</a:t>
            </a:r>
          </a:p>
        </p:txBody>
      </p:sp>
      <p:sp>
        <p:nvSpPr>
          <p:cNvPr id="7" name="TextBox 6"/>
          <p:cNvSpPr txBox="1"/>
          <p:nvPr/>
        </p:nvSpPr>
        <p:spPr>
          <a:xfrm>
            <a:off x="914400" y="2286000"/>
            <a:ext cx="10332720" cy="1188720"/>
          </a:xfrm>
          <a:prstGeom prst="rect">
            <a:avLst/>
          </a:prstGeom>
          <a:noFill/>
        </p:spPr>
        <p:txBody>
          <a:bodyPr wrap="square">
            <a:spAutoFit/>
          </a:bodyPr>
          <a:lstStyle/>
          <a:p>
            <a:pPr>
              <a:lnSpc>
                <a:spcPct val="100000"/>
              </a:lnSpc>
            </a:pPr>
            <a:r>
              <a:rPr sz="5400" b="1">
                <a:solidFill>
                  <a:srgbClr val="2C2540"/>
                </a:solidFill>
                <a:latin typeface="Inter"/>
              </a:rPr>
              <a:t>ReclaimYourNet</a:t>
            </a:r>
          </a:p>
        </p:txBody>
      </p:sp>
      <p:sp>
        <p:nvSpPr>
          <p:cNvPr id="8" name="TextBox 7"/>
          <p:cNvSpPr txBox="1"/>
          <p:nvPr/>
        </p:nvSpPr>
        <p:spPr>
          <a:xfrm>
            <a:off x="914400" y="3383280"/>
            <a:ext cx="10332720" cy="548640"/>
          </a:xfrm>
          <a:prstGeom prst="rect">
            <a:avLst/>
          </a:prstGeom>
          <a:noFill/>
        </p:spPr>
        <p:txBody>
          <a:bodyPr wrap="square">
            <a:spAutoFit/>
          </a:bodyPr>
          <a:lstStyle/>
          <a:p>
            <a:pPr>
              <a:lnSpc>
                <a:spcPct val="100000"/>
              </a:lnSpc>
            </a:pPr>
            <a:r>
              <a:rPr sz="2400" b="0">
                <a:solidFill>
                  <a:srgbClr val="6E6689"/>
                </a:solidFill>
                <a:latin typeface="Inter"/>
              </a:rPr>
              <a:t>Report once. File everywhere. Prove it happened.</a:t>
            </a:r>
          </a:p>
        </p:txBody>
      </p:sp>
      <p:sp>
        <p:nvSpPr>
          <p:cNvPr id="9" name="TextBox 8"/>
          <p:cNvSpPr txBox="1"/>
          <p:nvPr/>
        </p:nvSpPr>
        <p:spPr>
          <a:xfrm>
            <a:off x="914400" y="4114800"/>
            <a:ext cx="10332720" cy="914400"/>
          </a:xfrm>
          <a:prstGeom prst="rect">
            <a:avLst/>
          </a:prstGeom>
          <a:noFill/>
        </p:spPr>
        <p:txBody>
          <a:bodyPr wrap="square">
            <a:spAutoFit/>
          </a:bodyPr>
          <a:lstStyle/>
          <a:p>
            <a:pPr>
              <a:lnSpc>
                <a:spcPct val="130000"/>
              </a:lnSpc>
            </a:pPr>
            <a:r>
              <a:rPr sz="1600" b="0">
                <a:solidFill>
                  <a:srgbClr val="2C2540"/>
                </a:solidFill>
                <a:latin typeface="Inter"/>
              </a:rPr>
              <a:t>One description of online harm becomes every report you need to file - on the right portals,
with the right evidence, and with proof that you actually filed them.</a:t>
            </a:r>
          </a:p>
        </p:txBody>
      </p:sp>
      <p:sp>
        <p:nvSpPr>
          <p:cNvPr id="10" name="TextBox 9"/>
          <p:cNvSpPr txBox="1"/>
          <p:nvPr/>
        </p:nvSpPr>
        <p:spPr>
          <a:xfrm>
            <a:off x="914400" y="5669280"/>
            <a:ext cx="10332720" cy="365760"/>
          </a:xfrm>
          <a:prstGeom prst="rect">
            <a:avLst/>
          </a:prstGeom>
          <a:noFill/>
        </p:spPr>
        <p:txBody>
          <a:bodyPr wrap="square">
            <a:spAutoFit/>
          </a:bodyPr>
          <a:lstStyle/>
          <a:p>
            <a:pPr>
              <a:lnSpc>
                <a:spcPct val="100000"/>
              </a:lnSpc>
            </a:pPr>
            <a:r>
              <a:rPr sz="1300" b="0">
                <a:solidFill>
                  <a:srgbClr val="6E6689"/>
                </a:solidFill>
                <a:latin typeface="Inter"/>
              </a:rPr>
              <a:t>KriticalHacks 2026  ·  AI/ML track  ·  built with TinyFish      |      live: reclaim-your-net.vercel.app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Problem statement</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**Reporting online harm is a bureaucratic job, and victims are the worst equipped</a:t>
            </a:r>
            <a:r>
              <a:rPr sz="1300" b="1">
                <a:solidFill>
                  <a:srgbClr val="F2603F"/>
                </a:solidFill>
                <a:latin typeface="Inter"/>
              </a:rPr>
              <a:t>•  </a:t>
            </a:r>
          </a:p>
          <a:p>
            <a:pPr>
              <a:lnSpc>
                <a:spcPct val="115000"/>
              </a:lnSpc>
              <a:spcAft>
                <a:spcPts val="700"/>
              </a:spcAft>
            </a:pPr>
            <a:r>
              <a:rPr sz="1300" b="1">
                <a:solidFill>
                  <a:srgbClr val="2C2540"/>
                </a:solidFill>
                <a:latin typeface="Inter"/>
              </a:rPr>
              <a:t>to do it.**</a:t>
            </a:r>
            <a:r>
              <a:rPr sz="1300" b="1">
                <a:solidFill>
                  <a:srgbClr val="F2603F"/>
                </a:solidFill>
                <a:latin typeface="Inter"/>
              </a:rPr>
              <a:t>•  </a:t>
            </a:r>
          </a:p>
          <a:p>
            <a:pPr>
              <a:lnSpc>
                <a:spcPct val="115000"/>
              </a:lnSpc>
              <a:spcAft>
                <a:spcPts val="700"/>
              </a:spcAft>
            </a:pPr>
            <a:r>
              <a:rPr sz="1300" b="1">
                <a:solidFill>
                  <a:srgbClr val="2C2540"/>
                </a:solidFill>
                <a:latin typeface="Inter"/>
              </a:rPr>
              <a:t>The hard part is never filling in a form. It is:</a:t>
            </a:r>
            <a:r>
              <a:rPr sz="1300" b="1">
                <a:solidFill>
                  <a:srgbClr val="F2603F"/>
                </a:solidFill>
                <a:latin typeface="Inter"/>
              </a:rPr>
              <a:t>•  </a:t>
            </a:r>
          </a:p>
          <a:p>
            <a:pPr>
              <a:lnSpc>
                <a:spcPct val="115000"/>
              </a:lnSpc>
              <a:spcAft>
                <a:spcPts val="700"/>
              </a:spcAft>
            </a:pPr>
            <a:r>
              <a:rPr sz="1300" b="1">
                <a:solidFill>
                  <a:srgbClr val="2C2540"/>
                </a:solidFill>
                <a:latin typeface="Inter"/>
              </a:rPr>
              <a:t>1. **Knowing where to file.** The right authority depends on the type of harm, the</a:t>
            </a:r>
            <a:r>
              <a:rPr sz="1300" b="1">
                <a:solidFill>
                  <a:srgbClr val="F2603F"/>
                </a:solidFill>
                <a:latin typeface="Inter"/>
              </a:rPr>
              <a:t>•  </a:t>
            </a:r>
          </a:p>
          <a:p>
            <a:pPr lvl="1">
              <a:lnSpc>
                <a:spcPct val="115000"/>
              </a:lnSpc>
              <a:spcAft>
                <a:spcPts val="300"/>
              </a:spcAft>
            </a:pPr>
            <a:r>
              <a:rPr sz="1150" b="0">
                <a:solidFill>
                  <a:srgbClr val="6E6689"/>
                </a:solidFill>
                <a:latin typeface="Inter"/>
              </a:rPr>
              <a:t>jurisdiction, and the money involved. A bank dispute, a cybercrime portal</a:t>
            </a:r>
            <a:r>
              <a:rPr sz="1150" b="0">
                <a:solidFill>
                  <a:srgbClr val="6E6689"/>
                </a:solidFill>
                <a:latin typeface="Inter"/>
              </a:rPr>
              <a:t>–  </a:t>
            </a:r>
          </a:p>
          <a:p>
            <a:pPr lvl="1">
              <a:lnSpc>
                <a:spcPct val="115000"/>
              </a:lnSpc>
              <a:spcAft>
                <a:spcPts val="300"/>
              </a:spcAft>
            </a:pPr>
            <a:r>
              <a:rPr sz="1150" b="0">
                <a:solidFill>
                  <a:srgbClr val="6E6689"/>
                </a:solidFill>
                <a:latin typeface="Inter"/>
              </a:rPr>
              <a:t>complaint, a police FIR and a platform report are four different routes to four</a:t>
            </a:r>
            <a:r>
              <a:rPr sz="1150" b="0">
                <a:solidFill>
                  <a:srgbClr val="6E6689"/>
                </a:solidFill>
                <a:latin typeface="Inter"/>
              </a:rPr>
              <a:t>–  </a:t>
            </a:r>
          </a:p>
          <a:p>
            <a:pPr lvl="1">
              <a:lnSpc>
                <a:spcPct val="115000"/>
              </a:lnSpc>
              <a:spcAft>
                <a:spcPts val="300"/>
              </a:spcAft>
            </a:pPr>
            <a:r>
              <a:rPr sz="1150" b="0">
                <a:solidFill>
                  <a:srgbClr val="6E6689"/>
                </a:solidFill>
                <a:latin typeface="Inter"/>
              </a:rPr>
              <a:t>different outcomes - and skipping the wrong one costs you the outcome.</a:t>
            </a:r>
            <a:r>
              <a:rPr sz="1150" b="0">
                <a:solidFill>
                  <a:srgbClr val="6E6689"/>
                </a:solidFill>
                <a:latin typeface="Inter"/>
              </a:rPr>
              <a:t>–  </a:t>
            </a:r>
          </a:p>
          <a:p>
            <a:pPr>
              <a:lnSpc>
                <a:spcPct val="115000"/>
              </a:lnSpc>
              <a:spcAft>
                <a:spcPts val="700"/>
              </a:spcAft>
            </a:pPr>
            <a:r>
              <a:rPr sz="1300" b="1">
                <a:solidFill>
                  <a:srgbClr val="2C2540"/>
                </a:solidFill>
                <a:latin typeface="Inter"/>
              </a:rPr>
              <a:t>2. **Knowing what each form needs.** Every portal asks for a different subset of</a:t>
            </a:r>
            <a:r>
              <a:rPr sz="1300" b="1">
                <a:solidFill>
                  <a:srgbClr val="F2603F"/>
                </a:solidFill>
                <a:latin typeface="Inter"/>
              </a:rPr>
              <a:t>•  </a:t>
            </a:r>
          </a:p>
          <a:p>
            <a:pPr lvl="1">
              <a:lnSpc>
                <a:spcPct val="115000"/>
              </a:lnSpc>
              <a:spcAft>
                <a:spcPts val="300"/>
              </a:spcAft>
            </a:pPr>
            <a:r>
              <a:rPr sz="1150" b="0">
                <a:solidFill>
                  <a:srgbClr val="6E6689"/>
                </a:solidFill>
                <a:latin typeface="Inter"/>
              </a:rPr>
              <a:t>facts, and the required evidence differs.</a:t>
            </a:r>
            <a:r>
              <a:rPr sz="1150" b="0">
                <a:solidFill>
                  <a:srgbClr val="6E6689"/>
                </a:solidFill>
                <a:latin typeface="Inter"/>
              </a:rPr>
              <a:t>–  </a:t>
            </a:r>
          </a:p>
          <a:p>
            <a:pPr>
              <a:lnSpc>
                <a:spcPct val="115000"/>
              </a:lnSpc>
              <a:spcAft>
                <a:spcPts val="700"/>
              </a:spcAft>
            </a:pPr>
            <a:r>
              <a:rPr sz="1300" b="1">
                <a:solidFill>
                  <a:srgbClr val="2C2540"/>
                </a:solidFill>
                <a:latin typeface="Inter"/>
              </a:rPr>
              <a:t>3. **Keeping up with the fact that things change.** Portals move, forms change,</a:t>
            </a:r>
            <a:r>
              <a:rPr sz="1300" b="1">
                <a:solidFill>
                  <a:srgbClr val="F2603F"/>
                </a:solidFill>
                <a:latin typeface="Inter"/>
              </a:rPr>
              <a:t>•  </a:t>
            </a:r>
          </a:p>
          <a:p>
            <a:pPr lvl="1">
              <a:lnSpc>
                <a:spcPct val="115000"/>
              </a:lnSpc>
              <a:spcAft>
                <a:spcPts val="300"/>
              </a:spcAft>
            </a:pPr>
            <a:r>
              <a:rPr sz="1150" b="0">
                <a:solidFill>
                  <a:srgbClr val="6E6689"/>
                </a:solidFill>
                <a:latin typeface="Inter"/>
              </a:rPr>
              <a:t>helplines change. Any list built into an app goes stale silently.</a:t>
            </a:r>
            <a:r>
              <a:rPr sz="1150" b="0">
                <a:solidFill>
                  <a:srgbClr val="6E6689"/>
                </a:solidFill>
                <a:latin typeface="Inter"/>
              </a:rPr>
              <a:t>–  </a:t>
            </a:r>
          </a:p>
          <a:p>
            <a:pPr>
              <a:lnSpc>
                <a:spcPct val="115000"/>
              </a:lnSpc>
              <a:spcAft>
                <a:spcPts val="700"/>
              </a:spcAft>
            </a:pPr>
            <a:r>
              <a:rPr sz="1300" b="1">
                <a:solidFill>
                  <a:srgbClr val="2C2540"/>
                </a:solidFill>
                <a:latin typeface="Inter"/>
              </a:rPr>
              <a:t>4. **Proving you reported it.** Banks and police ask for reference numbers. Most</a:t>
            </a:r>
            <a:r>
              <a:rPr sz="1300" b="1">
                <a:solidFill>
                  <a:srgbClr val="F2603F"/>
                </a:solidFill>
                <a:latin typeface="Inter"/>
              </a:rPr>
              <a:t>•  </a:t>
            </a:r>
          </a:p>
          <a:p>
            <a:pPr lvl="1">
              <a:lnSpc>
                <a:spcPct val="115000"/>
              </a:lnSpc>
              <a:spcAft>
                <a:spcPts val="300"/>
              </a:spcAft>
            </a:pPr>
            <a:r>
              <a:rPr sz="1150" b="0">
                <a:solidFill>
                  <a:srgbClr val="6E6689"/>
                </a:solidFill>
                <a:latin typeface="Inter"/>
              </a:rPr>
              <a:t>victims never get them, or never keep them.</a:t>
            </a:r>
            <a:r>
              <a:rPr sz="1150" b="0">
                <a:solidFill>
                  <a:srgbClr val="6E6689"/>
                </a:solidFill>
                <a:latin typeface="Inter"/>
              </a:rPr>
              <a:t>–  </a:t>
            </a:r>
          </a:p>
          <a:p>
            <a:pPr>
              <a:lnSpc>
                <a:spcPct val="115000"/>
              </a:lnSpc>
              <a:spcAft>
                <a:spcPts val="700"/>
              </a:spcAft>
            </a:pPr>
            <a:r>
              <a:rPr sz="1300" b="1">
                <a:solidFill>
                  <a:srgbClr val="2C2540"/>
                </a:solidFill>
                <a:latin typeface="Inter"/>
              </a:rPr>
              <a:t>**And the part nobody does: the harm is not over when you hit send.** Content</a:t>
            </a:r>
            <a:r>
              <a:rPr sz="1300" b="1">
                <a:solidFill>
                  <a:srgbClr val="F2603F"/>
                </a:solidFill>
                <a:latin typeface="Inter"/>
              </a:rPr>
              <a:t>•  </a:t>
            </a:r>
          </a:p>
          <a:p>
            <a:pPr>
              <a:lnSpc>
                <a:spcPct val="115000"/>
              </a:lnSpc>
              <a:spcAft>
                <a:spcPts val="700"/>
              </a:spcAft>
            </a:pPr>
            <a:r>
              <a:rPr sz="1300" b="1">
                <a:solidFill>
                  <a:srgbClr val="2C2540"/>
                </a:solidFill>
                <a:latin typeface="Inter"/>
              </a:rPr>
              <a:t>reappears. It is morphed with AI. It is re-uploaded to a different site. It is</a:t>
            </a:r>
            <a:r>
              <a:rPr sz="1300" b="1">
                <a:solidFill>
                  <a:srgbClr val="F2603F"/>
                </a:solidFill>
                <a:latin typeface="Inter"/>
              </a:rPr>
              <a:t>•  </a:t>
            </a:r>
          </a:p>
          <a:p>
            <a:pPr>
              <a:lnSpc>
                <a:spcPct val="115000"/>
              </a:lnSpc>
              <a:spcAft>
                <a:spcPts val="700"/>
              </a:spcAft>
            </a:pPr>
            <a:r>
              <a:rPr sz="1300" b="1">
                <a:solidFill>
                  <a:srgbClr val="2C2540"/>
                </a:solidFill>
                <a:latin typeface="Inter"/>
              </a:rPr>
              <a:t>indexed by a search engine so that strangers can find it in seconds.</a:t>
            </a:r>
            <a:r>
              <a:rPr sz="1300" b="1">
                <a:solidFill>
                  <a:srgbClr val="F2603F"/>
                </a:solidFill>
                <a:latin typeface="Inter"/>
              </a:rPr>
              <a:t>•  </a:t>
            </a:r>
          </a:p>
          <a:p>
            <a:pPr>
              <a:lnSpc>
                <a:spcPct val="115000"/>
              </a:lnSpc>
              <a:spcAft>
                <a:spcPts val="700"/>
              </a:spcAft>
            </a:pPr>
            <a:r>
              <a:rPr sz="1300" b="1">
                <a:solidFill>
                  <a:srgbClr val="2C2540"/>
                </a:solidFill>
                <a:latin typeface="Inter"/>
              </a:rPr>
              <a:t>Concretely, in one investigation, an impersonation account using a student's photo</a:t>
            </a:r>
            <a:r>
              <a:rPr sz="1300" b="1">
                <a:solidFill>
                  <a:srgbClr val="F2603F"/>
                </a:solidFill>
                <a:latin typeface="Inter"/>
              </a:rPr>
              <a:t>•  </a:t>
            </a:r>
          </a:p>
          <a:p>
            <a:pPr>
              <a:lnSpc>
                <a:spcPct val="115000"/>
              </a:lnSpc>
              <a:spcAft>
                <a:spcPts val="700"/>
              </a:spcAft>
            </a:pPr>
            <a:r>
              <a:rPr sz="1300" b="1">
                <a:solidFill>
                  <a:srgbClr val="2C2540"/>
                </a:solidFill>
                <a:latin typeface="Inter"/>
              </a:rPr>
              <a:t>turned out to have: a platform report, a cybercrime portal complaint, a bank</a:t>
            </a:r>
            <a:r>
              <a:rPr sz="1300" b="1">
                <a:solidFill>
                  <a:srgbClr val="F2603F"/>
                </a:solidFill>
                <a:latin typeface="Inter"/>
              </a:rPr>
              <a:t>•  </a:t>
            </a:r>
          </a:p>
          <a:p>
            <a:pPr>
              <a:lnSpc>
                <a:spcPct val="115000"/>
              </a:lnSpc>
              <a:spcAft>
                <a:spcPts val="700"/>
              </a:spcAft>
            </a:pPr>
            <a:r>
              <a:rPr sz="1300" b="1">
                <a:solidFill>
                  <a:srgbClr val="2C2540"/>
                </a:solidFill>
                <a:latin typeface="Inter"/>
              </a:rPr>
              <a:t>dispute (money had moved), a police FIR, a Google URL removal, and a pre-emptive</a:t>
            </a:r>
            <a:r>
              <a:rPr sz="1300" b="1">
                <a:solidFill>
                  <a:srgbClr val="F2603F"/>
                </a:solidFill>
                <a:latin typeface="Inter"/>
              </a:rPr>
              <a:t>•  </a:t>
            </a:r>
          </a:p>
          <a:p>
            <a:pPr>
              <a:lnSpc>
                <a:spcPct val="115000"/>
              </a:lnSpc>
              <a:spcAft>
                <a:spcPts val="700"/>
              </a:spcAft>
            </a:pPr>
            <a:r>
              <a:rPr sz="1300" b="1">
                <a:solidFill>
                  <a:srgbClr val="2C2540"/>
                </a:solidFill>
                <a:latin typeface="Inter"/>
              </a:rPr>
              <a:t>hash registration with a NCII takedown service - seven actions, five different</a:t>
            </a:r>
            <a:r>
              <a:rPr sz="1300" b="1">
                <a:solidFill>
                  <a:srgbClr val="F2603F"/>
                </a:solidFill>
                <a:latin typeface="Inter"/>
              </a:rPr>
              <a:t>•  </a:t>
            </a:r>
          </a:p>
          <a:p>
            <a:pPr>
              <a:lnSpc>
                <a:spcPct val="115000"/>
              </a:lnSpc>
              <a:spcAft>
                <a:spcPts val="700"/>
              </a:spcAft>
            </a:pPr>
            <a:r>
              <a:rPr sz="1300" b="1">
                <a:solidFill>
                  <a:srgbClr val="2C2540"/>
                </a:solidFill>
                <a:latin typeface="Inter"/>
              </a:rPr>
              <a:t>organisations, no single place that would have told the victim to do all seven.</a:t>
            </a:r>
            <a:r>
              <a:rPr sz="1300" b="1">
                <a:solidFill>
                  <a:srgbClr val="F2603F"/>
                </a:solidFill>
                <a:latin typeface="Inter"/>
              </a:rPr>
              <a: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Proposed solution</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**ReclaimYourNet turns one description into a filed, evidenced, monitored case.**</a:t>
            </a:r>
            <a:r>
              <a:rPr sz="1300" b="1">
                <a:solidFill>
                  <a:srgbClr val="F2603F"/>
                </a:solidFill>
                <a:latin typeface="Inter"/>
              </a:rPr>
              <a:t>•  </a:t>
            </a:r>
          </a:p>
          <a:p>
            <a:pPr lvl="1">
              <a:lnSpc>
                <a:spcPct val="115000"/>
              </a:lnSpc>
              <a:spcAft>
                <a:spcPts val="300"/>
              </a:spcAft>
            </a:pPr>
            <a:r>
              <a:rPr sz="1150" b="0">
                <a:solidFill>
                  <a:srgbClr val="6E6689"/>
                </a:solidFill>
                <a:latin typeface="Inter"/>
              </a:rPr>
              <a:t>Stage   What happens   Who does it</a:t>
            </a:r>
            <a:r>
              <a:rPr sz="1150" b="0">
                <a:solidFill>
                  <a:srgbClr val="6E6689"/>
                </a:solidFill>
                <a:latin typeface="Inter"/>
              </a:rPr>
              <a:t>–  </a:t>
            </a:r>
          </a:p>
          <a:p>
            <a:pPr lvl="1">
              <a:lnSpc>
                <a:spcPct val="115000"/>
              </a:lnSpc>
              <a:spcAft>
                <a:spcPts val="300"/>
              </a:spcAft>
            </a:pPr>
            <a:r>
              <a:rPr sz="1150" b="0">
                <a:solidFill>
                  <a:srgbClr val="6E6689"/>
                </a:solidFill>
                <a:latin typeface="Inter"/>
              </a:rPr>
              <a:t>1. Describe   One free-text or spoken description of the incident   Victim</a:t>
            </a:r>
            <a:r>
              <a:rPr sz="1150" b="0">
                <a:solidFill>
                  <a:srgbClr val="6E6689"/>
                </a:solidFill>
                <a:latin typeface="Inter"/>
              </a:rPr>
              <a:t>–  </a:t>
            </a:r>
          </a:p>
          <a:p>
            <a:pPr lvl="1">
              <a:lnSpc>
                <a:spcPct val="115000"/>
              </a:lnSpc>
              <a:spcAft>
                <a:spcPts val="300"/>
              </a:spcAft>
            </a:pPr>
            <a:r>
              <a:rPr sz="1150" b="0">
                <a:solidFill>
                  <a:srgbClr val="6E6689"/>
                </a:solidFill>
                <a:latin typeface="Inter"/>
              </a:rPr>
              <a:t>2. Triage   A local, explainable model labels the incident type, extracts entities (platform, amount, date, handles) and masks sensitive values   ReclaimYourNet (offline ML)</a:t>
            </a:r>
            <a:r>
              <a:rPr sz="1150" b="0">
                <a:solidFill>
                  <a:srgbClr val="6E6689"/>
                </a:solidFill>
                <a:latin typeface="Inter"/>
              </a:rPr>
              <a:t>–  </a:t>
            </a:r>
          </a:p>
          <a:p>
            <a:pPr lvl="1">
              <a:lnSpc>
                <a:spcPct val="115000"/>
              </a:lnSpc>
              <a:spcAft>
                <a:spcPts val="300"/>
              </a:spcAft>
            </a:pPr>
            <a:r>
              <a:rPr sz="1150" b="0">
                <a:solidFill>
                  <a:srgbClr val="6E6689"/>
                </a:solidFill>
                <a:latin typeface="Inter"/>
              </a:rPr>
              <a:t>3. Plan   A channel planner turns the labels into a prioritised set of routes: platform / authority / financial / pre-emptive protection / de-indexing, each with a reason and a deadline. If we know your city it also finds **your** police station and **your** State Commission - a FIR can only be registered locally   ReclaimYourNet (rules + ML)</a:t>
            </a:r>
            <a:r>
              <a:rPr sz="1150" b="0">
                <a:solidFill>
                  <a:srgbClr val="6E6689"/>
                </a:solidFill>
                <a:latin typeface="Inter"/>
              </a:rPr>
              <a:t>–  </a:t>
            </a:r>
          </a:p>
          <a:p>
            <a:pPr lvl="1">
              <a:lnSpc>
                <a:spcPct val="115000"/>
              </a:lnSpc>
              <a:spcAft>
                <a:spcPts val="300"/>
              </a:spcAft>
            </a:pPr>
            <a:r>
              <a:rPr sz="1150" b="0">
                <a:solidFill>
                  <a:srgbClr val="6E6689"/>
                </a:solidFill>
                <a:latin typeface="Inter"/>
              </a:rPr>
              <a:t>4. Discover   A **TinyFish web agent** searches the live web for the *current* official portal, helpline and reporting page for each route   TinyFish Search</a:t>
            </a:r>
            <a:r>
              <a:rPr sz="1150" b="0">
                <a:solidFill>
                  <a:srgbClr val="6E6689"/>
                </a:solidFill>
                <a:latin typeface="Inter"/>
              </a:rPr>
              <a:t>–  </a:t>
            </a:r>
          </a:p>
          <a:p>
            <a:pPr lvl="1">
              <a:lnSpc>
                <a:spcPct val="115000"/>
              </a:lnSpc>
              <a:spcAft>
                <a:spcPts val="300"/>
              </a:spcAft>
            </a:pPr>
            <a:r>
              <a:rPr sz="1150" b="0">
                <a:solidFill>
                  <a:srgbClr val="6E6689"/>
                </a:solidFill>
                <a:latin typeface="Inter"/>
              </a:rPr>
              <a:t>5. Read   The same agent opens the real page and **reads the form it actually has today** - fields, labels, required flags, evidence requested   TinyFish Web Agent</a:t>
            </a:r>
            <a:r>
              <a:rPr sz="1150" b="0">
                <a:solidFill>
                  <a:srgbClr val="6E6689"/>
                </a:solidFill>
                <a:latin typeface="Inter"/>
              </a:rPr>
              <a:t>–  </a:t>
            </a:r>
          </a:p>
          <a:p>
            <a:pPr lvl="1">
              <a:lnSpc>
                <a:spcPct val="115000"/>
              </a:lnSpc>
              <a:spcAft>
                <a:spcPts val="300"/>
              </a:spcAft>
            </a:pPr>
            <a:r>
              <a:rPr sz="1150" b="0">
                <a:solidFill>
                  <a:srgbClr val="6E6689"/>
                </a:solidFill>
                <a:latin typeface="Inter"/>
              </a:rPr>
              <a:t>6. Review   The victim sees every value that will be typed, with sensitive fields masked, and approves or edits   Victim</a:t>
            </a:r>
            <a:r>
              <a:rPr sz="1150" b="0">
                <a:solidFill>
                  <a:srgbClr val="6E6689"/>
                </a:solidFill>
                <a:latin typeface="Inter"/>
              </a:rPr>
              <a:t>–  </a:t>
            </a:r>
          </a:p>
          <a:p>
            <a:pPr lvl="1">
              <a:lnSpc>
                <a:spcPct val="115000"/>
              </a:lnSpc>
              <a:spcAft>
                <a:spcPts val="300"/>
              </a:spcAft>
            </a:pPr>
            <a:r>
              <a:rPr sz="1150" b="0">
                <a:solidFill>
                  <a:srgbClr val="6E6689"/>
                </a:solidFill>
                <a:latin typeface="Inter"/>
              </a:rPr>
              <a:t>7. File   The agent types the approved values into the live form, stops before Submit, and submits only on a second explicit approval   TinyFish Web Agent</a:t>
            </a:r>
            <a:r>
              <a:rPr sz="1150" b="0">
                <a:solidFill>
                  <a:srgbClr val="6E6689"/>
                </a:solidFill>
                <a:latin typeface="Inter"/>
              </a:rPr>
              <a:t>–  </a:t>
            </a:r>
          </a:p>
          <a:p>
            <a:pPr lvl="1">
              <a:lnSpc>
                <a:spcPct val="115000"/>
              </a:lnSpc>
              <a:spcAft>
                <a:spcPts val="300"/>
              </a:spcAft>
            </a:pPr>
            <a:r>
              <a:rPr sz="1150" b="0">
                <a:solidFill>
                  <a:srgbClr val="6E6689"/>
                </a:solidFill>
                <a:latin typeface="Inter"/>
              </a:rPr>
              <a:t>8. Prove   Every page read, every reference number and every submission is written into a SHA-256 hash chain and exported as a court/bank-ready case file   ReclaimYourNet</a:t>
            </a:r>
            <a:r>
              <a:rPr sz="1150" b="0">
                <a:solidFill>
                  <a:srgbClr val="6E6689"/>
                </a:solidFill>
                <a:latin typeface="Inter"/>
              </a:rPr>
              <a:t>–  </a:t>
            </a:r>
          </a:p>
          <a:p>
            <a:pPr lvl="1">
              <a:lnSpc>
                <a:spcPct val="115000"/>
              </a:lnSpc>
              <a:spcAft>
                <a:spcPts val="300"/>
              </a:spcAft>
            </a:pPr>
            <a:r>
              <a:rPr sz="1150" b="0">
                <a:solidFill>
                  <a:srgbClr val="6E6689"/>
                </a:solidFill>
                <a:latin typeface="Inter"/>
              </a:rPr>
              <a:t>9. Follow up   TinyFish Monitors re-check the reported URL on a schedule and tell the victim whether the content actually came down - and escalate if it did not   TinyFish Monitor</a:t>
            </a:r>
            <a:r>
              <a:rPr sz="1150" b="0">
                <a:solidFill>
                  <a:srgbClr val="6E6689"/>
                </a:solidFill>
                <a:latin typeface="Inter"/>
              </a:rPr>
              <a:t>–  </a:t>
            </a:r>
          </a:p>
          <a:p>
            <a:pPr>
              <a:lnSpc>
                <a:spcPct val="115000"/>
              </a:lnSpc>
              <a:spcAft>
                <a:spcPts val="700"/>
              </a:spcAft>
            </a:pPr>
            <a:r>
              <a:rPr sz="1300" b="1">
                <a:solidFill>
                  <a:srgbClr val="2C2540"/>
                </a:solidFill>
                <a:latin typeface="Inter"/>
              </a:rPr>
              <a:t>**The design principle: nothing about the world is hard-coded.** The channel</a:t>
            </a:r>
            <a:r>
              <a:rPr sz="1300" b="1">
                <a:solidFill>
                  <a:srgbClr val="F2603F"/>
                </a:solidFill>
                <a:latin typeface="Inter"/>
              </a:rPr>
              <a:t>•  </a:t>
            </a:r>
          </a:p>
          <a:p>
            <a:pPr>
              <a:lnSpc>
                <a:spcPct val="115000"/>
              </a:lnSpc>
              <a:spcAft>
                <a:spcPts val="700"/>
              </a:spcAft>
            </a:pPr>
            <a:r>
              <a:rPr sz="1300" b="1">
                <a:solidFill>
                  <a:srgbClr val="2C2540"/>
                </a:solidFill>
                <a:latin typeface="Inter"/>
              </a:rPr>
              <a:t>catalogue in the code is only a *fallback*. The real channel graph - which portal,</a:t>
            </a:r>
            <a:r>
              <a:rPr sz="1300" b="1">
                <a:solidFill>
                  <a:srgbClr val="F2603F"/>
                </a:solidFill>
                <a:latin typeface="Inter"/>
              </a:rPr>
              <a:t>•  </a:t>
            </a:r>
          </a:p>
          <a:p>
            <a:pPr>
              <a:lnSpc>
                <a:spcPct val="115000"/>
              </a:lnSpc>
              <a:spcAft>
                <a:spcPts val="700"/>
              </a:spcAft>
            </a:pPr>
            <a:r>
              <a:rPr sz="1300" b="1">
                <a:solidFill>
                  <a:srgbClr val="2C2540"/>
                </a:solidFill>
                <a:latin typeface="Inter"/>
              </a:rPr>
              <a:t>which URL, which fields, which evidence - is resolved live, per case, by a web</a:t>
            </a:r>
            <a:r>
              <a:rPr sz="1300" b="1">
                <a:solidFill>
                  <a:srgbClr val="F2603F"/>
                </a:solidFill>
                <a:latin typeface="Inter"/>
              </a:rPr>
              <a:t>•  </a:t>
            </a:r>
          </a:p>
          <a:p>
            <a:pPr>
              <a:lnSpc>
                <a:spcPct val="115000"/>
              </a:lnSpc>
              <a:spcAft>
                <a:spcPts val="700"/>
              </a:spcAft>
            </a:pPr>
            <a:r>
              <a:rPr sz="1300" b="1">
                <a:solidFill>
                  <a:srgbClr val="2C2540"/>
                </a:solidFill>
                <a:latin typeface="Inter"/>
              </a:rPr>
              <a:t>agent, at the moment of the report.</a:t>
            </a:r>
            <a:r>
              <a:rPr sz="1300" b="1">
                <a:solidFill>
                  <a:srgbClr val="F2603F"/>
                </a:solidFill>
                <a:latin typeface="Inter"/>
              </a:rPr>
              <a: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Target users and use cases</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**Primary user: a victim of online harm, on a phone, in the first hour.**</a:t>
            </a:r>
            <a:r>
              <a:rPr sz="1300" b="1">
                <a:solidFill>
                  <a:srgbClr val="F2603F"/>
                </a:solidFill>
                <a:latin typeface="Inter"/>
              </a:rPr>
              <a:t>•  </a:t>
            </a:r>
          </a:p>
          <a:p>
            <a:pPr>
              <a:lnSpc>
                <a:spcPct val="115000"/>
              </a:lnSpc>
              <a:spcAft>
                <a:spcPts val="700"/>
              </a:spcAft>
            </a:pPr>
            <a:r>
              <a:rPr sz="1300" b="1">
                <a:solidFill>
                  <a:srgbClr val="2C2540"/>
                </a:solidFill>
                <a:latin typeface="Inter"/>
              </a:rPr>
              <a:t>They are not a compliance professional. They are stressed, they are on a deadline</a:t>
            </a:r>
            <a:r>
              <a:rPr sz="1300" b="1">
                <a:solidFill>
                  <a:srgbClr val="F2603F"/>
                </a:solidFill>
                <a:latin typeface="Inter"/>
              </a:rPr>
              <a:t>•  </a:t>
            </a:r>
          </a:p>
          <a:p>
            <a:pPr>
              <a:lnSpc>
                <a:spcPct val="115000"/>
              </a:lnSpc>
              <a:spcAft>
                <a:spcPts val="700"/>
              </a:spcAft>
            </a:pPr>
            <a:r>
              <a:rPr sz="1300" b="1">
                <a:solidFill>
                  <a:srgbClr val="2C2540"/>
                </a:solidFill>
                <a:latin typeface="Inter"/>
              </a:rPr>
              <a:t>(a bank freeze window, a takedown window), and the forms are hostile.</a:t>
            </a:r>
            <a:r>
              <a:rPr sz="1300" b="1">
                <a:solidFill>
                  <a:srgbClr val="F2603F"/>
                </a:solidFill>
                <a:latin typeface="Inter"/>
              </a:rPr>
              <a:t>•  </a:t>
            </a:r>
          </a:p>
          <a:p>
            <a:pPr>
              <a:lnSpc>
                <a:spcPct val="115000"/>
              </a:lnSpc>
              <a:spcAft>
                <a:spcPts val="700"/>
              </a:spcAft>
            </a:pPr>
            <a:r>
              <a:rPr sz="1300" b="1">
                <a:solidFill>
                  <a:srgbClr val="2C2540"/>
                </a:solidFill>
                <a:latin typeface="Inter"/>
              </a:rPr>
              <a:t>Concrete use cases we support today:</a:t>
            </a:r>
            <a:r>
              <a:rPr sz="1300" b="1">
                <a:solidFill>
                  <a:srgbClr val="F2603F"/>
                </a:solidFill>
                <a:latin typeface="Inter"/>
              </a:rPr>
              <a:t>•  </a:t>
            </a:r>
          </a:p>
          <a:p>
            <a:pPr lvl="1">
              <a:lnSpc>
                <a:spcPct val="115000"/>
              </a:lnSpc>
              <a:spcAft>
                <a:spcPts val="300"/>
              </a:spcAft>
            </a:pPr>
            <a:r>
              <a:rPr sz="1150" b="0">
                <a:solidFill>
                  <a:srgbClr val="6E6689"/>
                </a:solidFill>
                <a:latin typeface="Inter"/>
              </a:rPr>
              <a:t>Use case   What ReclaimYourNet does</a:t>
            </a:r>
            <a:r>
              <a:rPr sz="1150" b="0">
                <a:solidFill>
                  <a:srgbClr val="6E6689"/>
                </a:solidFill>
                <a:latin typeface="Inter"/>
              </a:rPr>
              <a:t>–  </a:t>
            </a:r>
          </a:p>
          <a:p>
            <a:pPr lvl="1">
              <a:lnSpc>
                <a:spcPct val="115000"/>
              </a:lnSpc>
              <a:spcAft>
                <a:spcPts val="300"/>
              </a:spcAft>
            </a:pPr>
            <a:r>
              <a:rPr sz="1150" b="0">
                <a:solidFill>
                  <a:srgbClr val="6E6689"/>
                </a:solidFill>
                <a:latin typeface="Inter"/>
              </a:rPr>
              <a:t>Impersonation + money   Platform report, cybercrime fraud complaint, bank dispute, police FIR, clone-watch monitor</a:t>
            </a:r>
            <a:r>
              <a:rPr sz="1150" b="0">
                <a:solidFill>
                  <a:srgbClr val="6E6689"/>
                </a:solidFill>
                <a:latin typeface="Inter"/>
              </a:rPr>
              <a:t>–  </a:t>
            </a:r>
          </a:p>
          <a:p>
            <a:pPr lvl="1">
              <a:lnSpc>
                <a:spcPct val="115000"/>
              </a:lnSpc>
              <a:spcAft>
                <a:spcPts val="300"/>
              </a:spcAft>
            </a:pPr>
            <a:r>
              <a:rPr sz="1150" b="0">
                <a:solidFill>
                  <a:srgbClr val="6E6689"/>
                </a:solidFill>
                <a:latin typeface="Inter"/>
              </a:rPr>
              <a:t>Morphed / AI-generated intimate image   Takedown request, pre-emptive hash registration (Take It Down, StopNCII, Takedown, RemoveHer, Redo), on-device blur before upload, de-indexing</a:t>
            </a:r>
            <a:r>
              <a:rPr sz="1150" b="0">
                <a:solidFill>
                  <a:srgbClr val="6E6689"/>
                </a:solidFill>
                <a:latin typeface="Inter"/>
              </a:rPr>
              <a:t>–  </a:t>
            </a:r>
          </a:p>
          <a:p>
            <a:pPr lvl="1">
              <a:lnSpc>
                <a:spcPct val="115000"/>
              </a:lnSpc>
              <a:spcAft>
                <a:spcPts val="300"/>
              </a:spcAft>
            </a:pPr>
            <a:r>
              <a:rPr sz="1150" b="0">
                <a:solidFill>
                  <a:srgbClr val="6E6689"/>
                </a:solidFill>
                <a:latin typeface="Inter"/>
              </a:rPr>
              <a:t>Doxxing   Data-broker opt-out, Google/Bing URL removal, police cyber cell, helpline call reminder</a:t>
            </a:r>
            <a:r>
              <a:rPr sz="1150" b="0">
                <a:solidFill>
                  <a:srgbClr val="6E6689"/>
                </a:solidFill>
                <a:latin typeface="Inter"/>
              </a:rPr>
              <a:t>–  </a:t>
            </a:r>
          </a:p>
          <a:p>
            <a:pPr lvl="1">
              <a:lnSpc>
                <a:spcPct val="115000"/>
              </a:lnSpc>
              <a:spcAft>
                <a:spcPts val="300"/>
              </a:spcAft>
            </a:pPr>
            <a:r>
              <a:rPr sz="1150" b="0">
                <a:solidFill>
                  <a:srgbClr val="6E6689"/>
                </a:solidFill>
                <a:latin typeface="Inter"/>
              </a:rPr>
              <a:t>Harassment / stalking of a woman   Women helpline, police cyber cell, NCW complaint, platform reports, protection services</a:t>
            </a:r>
            <a:r>
              <a:rPr sz="1150" b="0">
                <a:solidFill>
                  <a:srgbClr val="6E6689"/>
                </a:solidFill>
                <a:latin typeface="Inter"/>
              </a:rPr>
              <a:t>–  </a:t>
            </a:r>
          </a:p>
          <a:p>
            <a:pPr lvl="1">
              <a:lnSpc>
                <a:spcPct val="115000"/>
              </a:lnSpc>
              <a:spcAft>
                <a:spcPts val="300"/>
              </a:spcAft>
            </a:pPr>
            <a:r>
              <a:rPr sz="1150" b="0">
                <a:solidFill>
                  <a:srgbClr val="6E6689"/>
                </a:solidFill>
                <a:latin typeface="Inter"/>
              </a:rPr>
              <a:t>Child safety   Mandatory child-safety reporting, platform reports, police</a:t>
            </a:r>
            <a:r>
              <a:rPr sz="1150" b="0">
                <a:solidFill>
                  <a:srgbClr val="6E6689"/>
                </a:solidFill>
                <a:latin typeface="Inter"/>
              </a:rPr>
              <a:t>–  </a:t>
            </a:r>
          </a:p>
          <a:p>
            <a:pPr>
              <a:lnSpc>
                <a:spcPct val="115000"/>
              </a:lnSpc>
              <a:spcAft>
                <a:spcPts val="700"/>
              </a:spcAft>
            </a:pPr>
            <a:r>
              <a:rPr sz="1300" b="1">
                <a:solidFill>
                  <a:srgbClr val="2C2540"/>
                </a:solidFill>
                <a:latin typeface="Inter"/>
              </a:rPr>
              <a:t>**Secondary users (the ones who pay):** victim-support organisations, campus</a:t>
            </a:r>
            <a:r>
              <a:rPr sz="1300" b="1">
                <a:solidFill>
                  <a:srgbClr val="F2603F"/>
                </a:solidFill>
                <a:latin typeface="Inter"/>
              </a:rPr>
              <a:t>•  </a:t>
            </a:r>
          </a:p>
          <a:p>
            <a:pPr>
              <a:lnSpc>
                <a:spcPct val="115000"/>
              </a:lnSpc>
              <a:spcAft>
                <a:spcPts val="700"/>
              </a:spcAft>
            </a:pPr>
            <a:r>
              <a:rPr sz="1300" b="1">
                <a:solidFill>
                  <a:srgbClr val="2C2540"/>
                </a:solidFill>
                <a:latin typeface="Inter"/>
              </a:rPr>
              <a:t>safety teams, community organisations that handle dozens of reports a week and</a:t>
            </a:r>
            <a:r>
              <a:rPr sz="1300" b="1">
                <a:solidFill>
                  <a:srgbClr val="F2603F"/>
                </a:solidFill>
                <a:latin typeface="Inter"/>
              </a:rPr>
              <a:t>•  </a:t>
            </a:r>
          </a:p>
          <a:p>
            <a:pPr>
              <a:lnSpc>
                <a:spcPct val="115000"/>
              </a:lnSpc>
              <a:spcAft>
                <a:spcPts val="700"/>
              </a:spcAft>
            </a:pPr>
            <a:r>
              <a:rPr sz="1300" b="1">
                <a:solidFill>
                  <a:srgbClr val="2C2540"/>
                </a:solidFill>
                <a:latin typeface="Inter"/>
              </a:rPr>
              <a:t>need a consistent, evidenced process.</a:t>
            </a:r>
            <a:r>
              <a:rPr sz="1300" b="1">
                <a:solidFill>
                  <a:srgbClr val="F2603F"/>
                </a:solidFill>
                <a:latin typeface="Inter"/>
              </a:rP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Role of machine learning / AI</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Two very different jobs, deliberately split.</a:t>
            </a:r>
            <a:r>
              <a:rPr sz="1300" b="1">
                <a:solidFill>
                  <a:srgbClr val="F2603F"/>
                </a:solidFill>
                <a:latin typeface="Inter"/>
              </a:rPr>
              <a:t>•  </a:t>
            </a:r>
          </a:p>
          <a:p>
            <a:pPr>
              <a:lnSpc>
                <a:spcPct val="115000"/>
              </a:lnSpc>
              <a:spcAft>
                <a:spcPts val="700"/>
              </a:spcAft>
            </a:pPr>
            <a:r>
              <a:rPr sz="1300" b="1">
                <a:solidFill>
                  <a:srgbClr val="2C2540"/>
                </a:solidFill>
                <a:latin typeface="Inter"/>
              </a:rPr>
              <a:t>**Model:** one-vs-rest L2-regularised **logistic regression** over a TF-IDF</a:t>
            </a:r>
            <a:r>
              <a:rPr sz="1300" b="1">
                <a:solidFill>
                  <a:srgbClr val="F2603F"/>
                </a:solidFill>
                <a:latin typeface="Inter"/>
              </a:rPr>
              <a:t>•  </a:t>
            </a:r>
          </a:p>
          <a:p>
            <a:pPr>
              <a:lnSpc>
                <a:spcPct val="115000"/>
              </a:lnSpc>
              <a:spcAft>
                <a:spcPts val="700"/>
              </a:spcAft>
            </a:pPr>
            <a:r>
              <a:rPr sz="1300" b="1">
                <a:solidFill>
                  <a:srgbClr val="2C2540"/>
                </a:solidFill>
                <a:latin typeface="Inter"/>
              </a:rPr>
              <a:t>vector of unigrams + bigrams, drawn from a synonym-folded, stemmed token stream</a:t>
            </a:r>
            <a:r>
              <a:rPr sz="1300" b="1">
                <a:solidFill>
                  <a:srgbClr val="F2603F"/>
                </a:solidFill>
                <a:latin typeface="Inter"/>
              </a:rPr>
              <a:t>•  </a:t>
            </a:r>
          </a:p>
          <a:p>
            <a:pPr>
              <a:lnSpc>
                <a:spcPct val="115000"/>
              </a:lnSpc>
              <a:spcAft>
                <a:spcPts val="700"/>
              </a:spcAft>
            </a:pPr>
            <a:r>
              <a:rPr sz="1300" b="1">
                <a:solidFill>
                  <a:srgbClr val="2C2540"/>
                </a:solidFill>
                <a:latin typeface="Inter"/>
              </a:rPr>
              <a:t>(14 incident types, 223 hand-labelled multi-label examples). Trained with</a:t>
            </a:r>
            <a:r>
              <a:rPr sz="1300" b="1">
                <a:solidFill>
                  <a:srgbClr val="F2603F"/>
                </a:solidFill>
                <a:latin typeface="Inter"/>
              </a:rPr>
              <a:t>•  </a:t>
            </a:r>
          </a:p>
          <a:p>
            <a:pPr>
              <a:lnSpc>
                <a:spcPct val="115000"/>
              </a:lnSpc>
              <a:spcAft>
                <a:spcPts val="700"/>
              </a:spcAft>
            </a:pPr>
            <a:r>
              <a:rPr sz="1300" b="1">
                <a:solidFill>
                  <a:srgbClr val="2C2540"/>
                </a:solidFill>
                <a:latin typeface="Inter"/>
              </a:rPr>
              <a:t>full-batch gradient descent + momentum.</a:t>
            </a:r>
            <a:r>
              <a:rPr sz="1300" b="1">
                <a:solidFill>
                  <a:srgbClr val="F2603F"/>
                </a:solidFill>
                <a:latin typeface="Inter"/>
              </a:rPr>
              <a:t>•  </a:t>
            </a:r>
          </a:p>
          <a:p>
            <a:pPr>
              <a:lnSpc>
                <a:spcPct val="115000"/>
              </a:lnSpc>
              <a:spcAft>
                <a:spcPts val="700"/>
              </a:spcAft>
            </a:pPr>
            <a:r>
              <a:rPr sz="1300" b="1">
                <a:solidFill>
                  <a:srgbClr val="2C2540"/>
                </a:solidFill>
                <a:latin typeface="Inter"/>
              </a:rPr>
              <a:t>*Why not an LLM for triage?* Triage must be reproducible, offline, free, and</a:t>
            </a:r>
            <a:r>
              <a:rPr sz="1300" b="1">
                <a:solidFill>
                  <a:srgbClr val="F2603F"/>
                </a:solidFill>
                <a:latin typeface="Inter"/>
              </a:rPr>
              <a:t>•  </a:t>
            </a:r>
          </a:p>
          <a:p>
            <a:pPr>
              <a:lnSpc>
                <a:spcPct val="115000"/>
              </a:lnSpc>
              <a:spcAft>
                <a:spcPts val="700"/>
              </a:spcAft>
            </a:pPr>
            <a:r>
              <a:rPr sz="1300" b="1">
                <a:solidFill>
                  <a:srgbClr val="2C2540"/>
                </a:solidFill>
                <a:latin typeface="Inter"/>
              </a:rPr>
              <a:t>able to justify itself. A victim is being asked to trust a recommendation that</a:t>
            </a:r>
            <a:r>
              <a:rPr sz="1300" b="1">
                <a:solidFill>
                  <a:srgbClr val="F2603F"/>
                </a:solidFill>
                <a:latin typeface="Inter"/>
              </a:rPr>
              <a:t>•  </a:t>
            </a:r>
          </a:p>
          <a:p>
            <a:pPr>
              <a:lnSpc>
                <a:spcPct val="115000"/>
              </a:lnSpc>
              <a:spcAft>
                <a:spcPts val="700"/>
              </a:spcAft>
            </a:pPr>
            <a:r>
              <a:rPr sz="1300" b="1">
                <a:solidFill>
                  <a:srgbClr val="2C2540"/>
                </a:solidFill>
                <a:latin typeface="Inter"/>
              </a:rPr>
              <a:t>tells them to report their case to a government portal - "because the word</a:t>
            </a:r>
            <a:r>
              <a:rPr sz="1300" b="1">
                <a:solidFill>
                  <a:srgbClr val="F2603F"/>
                </a:solidFill>
                <a:latin typeface="Inter"/>
              </a:rPr>
              <a:t>•  </a:t>
            </a:r>
          </a:p>
          <a:p>
            <a:pPr>
              <a:lnSpc>
                <a:spcPct val="115000"/>
              </a:lnSpc>
              <a:spcAft>
                <a:spcPts val="700"/>
              </a:spcAft>
            </a:pPr>
            <a:r>
              <a:rPr sz="1300" b="1">
                <a:solidFill>
                  <a:srgbClr val="2C2540"/>
                </a:solidFill>
                <a:latin typeface="Inter"/>
              </a:rPr>
              <a:t>*scammer* contributed +2.1 to fraud" is a sentence a human can check.</a:t>
            </a:r>
            <a:r>
              <a:rPr sz="1300" b="1">
                <a:solidFill>
                  <a:srgbClr val="F2603F"/>
                </a:solidFill>
                <a:latin typeface="Inter"/>
              </a:rPr>
              <a:t>•  </a:t>
            </a:r>
          </a:p>
          <a:p>
            <a:pPr>
              <a:lnSpc>
                <a:spcPct val="115000"/>
              </a:lnSpc>
              <a:spcAft>
                <a:spcPts val="700"/>
              </a:spcAft>
            </a:pPr>
            <a:r>
              <a:rPr sz="1300" b="1">
                <a:solidFill>
                  <a:srgbClr val="2C2540"/>
                </a:solidFill>
                <a:latin typeface="Inter"/>
              </a:rPr>
              <a:t>**Evaluation** (stratified 5-fold cross-validation, `npm run eval`):</a:t>
            </a:r>
            <a:r>
              <a:rPr sz="1300" b="1">
                <a:solidFill>
                  <a:srgbClr val="F2603F"/>
                </a:solidFill>
                <a:latin typeface="Inter"/>
              </a:rPr>
              <a:t>•  </a:t>
            </a:r>
          </a:p>
          <a:p>
            <a:pPr lvl="1">
              <a:lnSpc>
                <a:spcPct val="115000"/>
              </a:lnSpc>
              <a:spcAft>
                <a:spcPts val="300"/>
              </a:spcAft>
            </a:pPr>
            <a:r>
              <a:rPr sz="1150" b="0">
                <a:solidFill>
                  <a:srgbClr val="6E6689"/>
                </a:solidFill>
                <a:latin typeface="Inter"/>
              </a:rPr>
              <a:t>Metric   Value</a:t>
            </a:r>
            <a:r>
              <a:rPr sz="1150" b="0">
                <a:solidFill>
                  <a:srgbClr val="6E6689"/>
                </a:solidFill>
                <a:latin typeface="Inter"/>
              </a:rPr>
              <a:t>–  </a:t>
            </a:r>
          </a:p>
          <a:p>
            <a:pPr lvl="1">
              <a:lnSpc>
                <a:spcPct val="115000"/>
              </a:lnSpc>
              <a:spcAft>
                <a:spcPts val="300"/>
              </a:spcAft>
            </a:pPr>
            <a:r>
              <a:rPr sz="1150" b="0">
                <a:solidFill>
                  <a:srgbClr val="6E6689"/>
                </a:solidFill>
                <a:latin typeface="Inter"/>
              </a:rPr>
              <a:t>Macro F1   0.62</a:t>
            </a:r>
            <a:r>
              <a:rPr sz="1150" b="0">
                <a:solidFill>
                  <a:srgbClr val="6E6689"/>
                </a:solidFill>
                <a:latin typeface="Inter"/>
              </a:rPr>
              <a:t>–  </a:t>
            </a:r>
          </a:p>
          <a:p>
            <a:pPr lvl="1">
              <a:lnSpc>
                <a:spcPct val="115000"/>
              </a:lnSpc>
              <a:spcAft>
                <a:spcPts val="300"/>
              </a:spcAft>
            </a:pPr>
            <a:r>
              <a:rPr sz="1150" b="0">
                <a:solidFill>
                  <a:srgbClr val="6E6689"/>
                </a:solidFill>
                <a:latin typeface="Inter"/>
              </a:rPr>
              <a:t>Macro precision   0.50</a:t>
            </a:r>
            <a:r>
              <a:rPr sz="1150" b="0">
                <a:solidFill>
                  <a:srgbClr val="6E6689"/>
                </a:solidFill>
                <a:latin typeface="Inter"/>
              </a:rPr>
              <a:t>–  </a:t>
            </a:r>
          </a:p>
          <a:p>
            <a:pPr lvl="1">
              <a:lnSpc>
                <a:spcPct val="115000"/>
              </a:lnSpc>
              <a:spcAft>
                <a:spcPts val="300"/>
              </a:spcAft>
            </a:pPr>
            <a:r>
              <a:rPr sz="1150" b="0">
                <a:solidFill>
                  <a:srgbClr val="6E6689"/>
                </a:solidFill>
                <a:latin typeface="Inter"/>
              </a:rPr>
              <a:t>Macro recall   0.83</a:t>
            </a:r>
            <a:r>
              <a:rPr sz="1150" b="0">
                <a:solidFill>
                  <a:srgbClr val="6E6689"/>
                </a:solidFill>
                <a:latin typeface="Inter"/>
              </a:rPr>
              <a:t>–  </a:t>
            </a:r>
          </a:p>
          <a:p>
            <a:pPr lvl="1">
              <a:lnSpc>
                <a:spcPct val="115000"/>
              </a:lnSpc>
              <a:spcAft>
                <a:spcPts val="300"/>
              </a:spcAft>
            </a:pPr>
            <a:r>
              <a:rPr sz="1150" b="0">
                <a:solidFill>
                  <a:srgbClr val="6E6689"/>
                </a:solidFill>
                <a:latin typeface="Inter"/>
              </a:rPr>
              <a:t>Top-1 label correct   89.7%</a:t>
            </a:r>
            <a:r>
              <a:rPr sz="1150" b="0">
                <a:solidFill>
                  <a:srgbClr val="6E6689"/>
                </a:solidFill>
                <a:latin typeface="Inter"/>
              </a:rPr>
              <a:t>–  </a:t>
            </a:r>
          </a:p>
          <a:p>
            <a:pPr lvl="1">
              <a:lnSpc>
                <a:spcPct val="115000"/>
              </a:lnSpc>
              <a:spcAft>
                <a:spcPts val="300"/>
              </a:spcAft>
            </a:pPr>
            <a:r>
              <a:rPr sz="1150" b="0">
                <a:solidFill>
                  <a:srgbClr val="6E6689"/>
                </a:solidFill>
                <a:latin typeface="Inter"/>
              </a:rPr>
              <a:t>Exact label-set match   14.8%</a:t>
            </a:r>
            <a:r>
              <a:rPr sz="1150" b="0">
                <a:solidFill>
                  <a:srgbClr val="6E6689"/>
                </a:solidFill>
                <a:latin typeface="Inter"/>
              </a:rPr>
              <a:t>–  </a:t>
            </a:r>
          </a:p>
          <a:p>
            <a:pPr>
              <a:lnSpc>
                <a:spcPct val="115000"/>
              </a:lnSpc>
              <a:spcAft>
                <a:spcPts val="700"/>
              </a:spcAft>
            </a:pPr>
            <a:r>
              <a:rPr sz="1300" b="1">
                <a:solidFill>
                  <a:srgbClr val="2C2540"/>
                </a:solidFill>
                <a:latin typeface="Inter"/>
              </a:rPr>
              <a:t>The numbers are honest and reproducible from the committed corpus. We over-predict</a:t>
            </a:r>
            <a:r>
              <a:rPr sz="1300" b="1">
                <a:solidFill>
                  <a:srgbClr val="F2603F"/>
                </a:solidFill>
                <a:latin typeface="Inter"/>
              </a:rPr>
              <a:t>•  </a:t>
            </a:r>
          </a:p>
          <a:p>
            <a:pPr>
              <a:lnSpc>
                <a:spcPct val="115000"/>
              </a:lnSpc>
              <a:spcAft>
                <a:spcPts val="700"/>
              </a:spcAft>
            </a:pPr>
            <a:r>
              <a:rPr sz="1300" b="1">
                <a:solidFill>
                  <a:srgbClr val="2C2540"/>
                </a:solidFill>
                <a:latin typeface="Inter"/>
              </a:rPr>
              <a:t>labels on purpose: in this domain a missed label means a **missed reporting</a:t>
            </a:r>
            <a:r>
              <a:rPr sz="1300" b="1">
                <a:solidFill>
                  <a:srgbClr val="F2603F"/>
                </a:solidFill>
                <a:latin typeface="Inter"/>
              </a:rPr>
              <a:t>•  </a:t>
            </a:r>
          </a:p>
          <a:p>
            <a:pPr>
              <a:lnSpc>
                <a:spcPct val="115000"/>
              </a:lnSpc>
              <a:spcAft>
                <a:spcPts val="700"/>
              </a:spcAft>
            </a:pPr>
            <a:r>
              <a:rPr sz="1300" b="1">
                <a:solidFill>
                  <a:srgbClr val="2C2540"/>
                </a:solidFill>
                <a:latin typeface="Inter"/>
              </a:rPr>
              <a:t>route**, and an extra channel is cheap while a missing one is not.</a:t>
            </a:r>
            <a:r>
              <a:rPr sz="1300" b="1">
                <a:solidFill>
                  <a:srgbClr val="F2603F"/>
                </a:solidFill>
                <a:latin typeface="Inter"/>
              </a:rPr>
              <a:t>•  </a:t>
            </a:r>
          </a:p>
          <a:p>
            <a:pPr>
              <a:lnSpc>
                <a:spcPct val="115000"/>
              </a:lnSpc>
              <a:spcAft>
                <a:spcPts val="700"/>
              </a:spcAft>
            </a:pPr>
            <a:r>
              <a:rPr sz="1300" b="1">
                <a:solidFill>
                  <a:srgbClr val="2C2540"/>
                </a:solidFill>
                <a:latin typeface="Inter"/>
              </a:rPr>
              <a:t>**Explainability is a feature, not a slogan.** The model stores a weight per</a:t>
            </a:r>
            <a:r>
              <a:rPr sz="1300" b="1">
                <a:solidFill>
                  <a:srgbClr val="F2603F"/>
                </a:solidFill>
                <a:latin typeface="Inter"/>
              </a:rPr>
              <a:t>•  </a:t>
            </a:r>
          </a:p>
          <a:p>
            <a:pPr>
              <a:lnSpc>
                <a:spcPct val="115000"/>
              </a:lnSpc>
              <a:spcAft>
                <a:spcPts val="700"/>
              </a:spcAft>
            </a:pPr>
            <a:r>
              <a:rPr sz="1300" b="1">
                <a:solidFill>
                  <a:srgbClr val="2C2540"/>
                </a:solidFill>
                <a:latin typeface="Inter"/>
              </a:rPr>
              <a:t>token, so the UI shows the exact words that drove each label</a:t>
            </a:r>
            <a:r>
              <a:rPr sz="1300" b="1">
                <a:solidFill>
                  <a:srgbClr val="F2603F"/>
                </a:solidFill>
                <a:latin typeface="Inter"/>
              </a:rPr>
              <a:t>•  </a:t>
            </a:r>
          </a:p>
          <a:p>
            <a:pPr>
              <a:lnSpc>
                <a:spcPct val="115000"/>
              </a:lnSpc>
              <a:spcAft>
                <a:spcPts val="700"/>
              </a:spcAft>
            </a:pPr>
            <a:r>
              <a:rPr sz="1300" b="1">
                <a:solidFill>
                  <a:srgbClr val="2C2540"/>
                </a:solidFill>
                <a:latin typeface="Inter"/>
              </a:rPr>
              <a:t>(`money +2.1`, `scam +1.8`, `photo +1.4`). The same weights are what a victim</a:t>
            </a:r>
            <a:r>
              <a:rPr sz="1300" b="1">
                <a:solidFill>
                  <a:srgbClr val="F2603F"/>
                </a:solidFill>
                <a:latin typeface="Inter"/>
              </a:rPr>
              <a:t>•  </a:t>
            </a:r>
          </a:p>
          <a:p>
            <a:pPr>
              <a:lnSpc>
                <a:spcPct val="115000"/>
              </a:lnSpc>
              <a:spcAft>
                <a:spcPts val="700"/>
              </a:spcAft>
            </a:pPr>
            <a:r>
              <a:rPr sz="1300" b="1">
                <a:solidFill>
                  <a:srgbClr val="2C2540"/>
                </a:solidFill>
                <a:latin typeface="Inter"/>
              </a:rPr>
              <a:t>or a support worker sees in the app.</a:t>
            </a:r>
            <a:r>
              <a:rPr sz="1300" b="1">
                <a:solidFill>
                  <a:srgbClr val="F2603F"/>
                </a:solidFill>
                <a:latin typeface="Inter"/>
              </a:rPr>
              <a:t>•  </a:t>
            </a:r>
          </a:p>
          <a:p>
            <a:pPr>
              <a:lnSpc>
                <a:spcPct val="115000"/>
              </a:lnSpc>
              <a:spcAft>
                <a:spcPts val="700"/>
              </a:spcAft>
            </a:pPr>
            <a:r>
              <a:rPr sz="1300" b="1">
                <a:solidFill>
                  <a:srgbClr val="2C2540"/>
                </a:solidFill>
                <a:latin typeface="Inter"/>
              </a:rPr>
              <a:t>**Hard-signal rules layer on top.** Urgency, escalation signals and the</a:t>
            </a:r>
            <a:r>
              <a:rPr sz="1300" b="1">
                <a:solidFill>
                  <a:srgbClr val="F2603F"/>
                </a:solidFill>
                <a:latin typeface="Inter"/>
              </a:rPr>
              <a:t>•  </a:t>
            </a:r>
          </a:p>
          <a:p>
            <a:pPr>
              <a:lnSpc>
                <a:spcPct val="115000"/>
              </a:lnSpc>
              <a:spcAft>
                <a:spcPts val="700"/>
              </a:spcAft>
            </a:pPr>
            <a:r>
              <a:rPr sz="1300" b="1">
                <a:solidFill>
                  <a:srgbClr val="2C2540"/>
                </a:solidFill>
                <a:latin typeface="Inter"/>
              </a:rPr>
              <a:t>de-risking of sensitive data are rule-based and auditable: money lost, threat,</a:t>
            </a:r>
            <a:r>
              <a:rPr sz="1300" b="1">
                <a:solidFill>
                  <a:srgbClr val="F2603F"/>
                </a:solidFill>
                <a:latin typeface="Inter"/>
              </a:rPr>
              <a:t>•  </a:t>
            </a:r>
          </a:p>
          <a:p>
            <a:pPr>
              <a:lnSpc>
                <a:spcPct val="115000"/>
              </a:lnSpc>
              <a:spcAft>
                <a:spcPts val="700"/>
              </a:spcAft>
            </a:pPr>
            <a:r>
              <a:rPr sz="1300" b="1">
                <a:solidFill>
                  <a:srgbClr val="2C2540"/>
                </a:solidFill>
                <a:latin typeface="Inter"/>
              </a:rPr>
              <a:t>minor involved, intimate content, identity exposed, account takeover.</a:t>
            </a:r>
            <a:r>
              <a:rPr sz="1300" b="1">
                <a:solidFill>
                  <a:srgbClr val="F2603F"/>
                </a:solidFill>
                <a:latin typeface="Inter"/>
              </a:rPr>
              <a:t>•  </a:t>
            </a:r>
          </a:p>
          <a:p>
            <a:pPr>
              <a:lnSpc>
                <a:spcPct val="115000"/>
              </a:lnSpc>
              <a:spcAft>
                <a:spcPts val="700"/>
              </a:spcAft>
            </a:pPr>
            <a:r>
              <a:rPr sz="1300" b="1">
                <a:solidFill>
                  <a:srgbClr val="2C2540"/>
                </a:solidFill>
                <a:latin typeface="Inter"/>
              </a:rPr>
              <a:t>The judgement-heavy half of the problem - *which* portal, *which* form, *what*</a:t>
            </a:r>
            <a:r>
              <a:rPr sz="1300" b="1">
                <a:solidFill>
                  <a:srgbClr val="F2603F"/>
                </a:solidFill>
                <a:latin typeface="Inter"/>
              </a:rPr>
              <a:t>•  </a:t>
            </a:r>
          </a:p>
          <a:p>
            <a:pPr>
              <a:lnSpc>
                <a:spcPct val="115000"/>
              </a:lnSpc>
              <a:spcAft>
                <a:spcPts val="700"/>
              </a:spcAft>
            </a:pPr>
            <a:r>
              <a:rPr sz="1300" b="1">
                <a:solidFill>
                  <a:srgbClr val="2C2540"/>
                </a:solidFill>
                <a:latin typeface="Inter"/>
              </a:rPr>
              <a:t>evidence, *is it still true right now* - is delegated to a web agent, because</a:t>
            </a:r>
            <a:r>
              <a:rPr sz="1300" b="1">
                <a:solidFill>
                  <a:srgbClr val="F2603F"/>
                </a:solidFill>
                <a:latin typeface="Inter"/>
              </a:rPr>
              <a:t>•  </a:t>
            </a:r>
          </a:p>
          <a:p>
            <a:pPr>
              <a:lnSpc>
                <a:spcPct val="115000"/>
              </a:lnSpc>
              <a:spcAft>
                <a:spcPts val="700"/>
              </a:spcAft>
            </a:pPr>
            <a:r>
              <a:rPr sz="1300" b="1">
                <a:solidFill>
                  <a:srgbClr val="2C2540"/>
                </a:solidFill>
                <a:latin typeface="Inter"/>
              </a:rPr>
              <a:t>that is exactly the part an LLM cannot do and a hard-coded list does badly.</a:t>
            </a:r>
            <a:r>
              <a:rPr sz="1300" b="1">
                <a:solidFill>
                  <a:srgbClr val="F2603F"/>
                </a:solidFill>
                <a:latin typeface="Inter"/>
              </a:rP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Proposed TinyFish integration (the mandatory slide)</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**We use four TinyFish surfaces, each for a job a static implementation cannot do.**</a:t>
            </a:r>
            <a:r>
              <a:rPr sz="1300" b="1">
                <a:solidFill>
                  <a:srgbClr val="F2603F"/>
                </a:solidFill>
                <a:latin typeface="Inter"/>
              </a:rPr>
              <a:t>•  </a:t>
            </a:r>
          </a:p>
          <a:p>
            <a:pPr lvl="1">
              <a:lnSpc>
                <a:spcPct val="115000"/>
              </a:lnSpc>
              <a:spcAft>
                <a:spcPts val="300"/>
              </a:spcAft>
            </a:pPr>
            <a:r>
              <a:rPr sz="1150" b="0">
                <a:solidFill>
                  <a:srgbClr val="6E6689"/>
                </a:solidFill>
                <a:latin typeface="Inter"/>
              </a:rPr>
              <a:t>TinyFish surface   Where it is used   What it replaces</a:t>
            </a:r>
            <a:r>
              <a:rPr sz="1150" b="0">
                <a:solidFill>
                  <a:srgbClr val="6E6689"/>
                </a:solidFill>
                <a:latin typeface="Inter"/>
              </a:rPr>
              <a:t>–  </a:t>
            </a:r>
          </a:p>
          <a:p>
            <a:pPr lvl="1">
              <a:lnSpc>
                <a:spcPct val="115000"/>
              </a:lnSpc>
              <a:spcAft>
                <a:spcPts val="300"/>
              </a:spcAft>
            </a:pPr>
            <a:r>
              <a:rPr sz="1150" b="0">
                <a:solidFill>
                  <a:srgbClr val="6E6689"/>
                </a:solidFill>
                <a:latin typeface="Inter"/>
              </a:rPr>
              <a:t>**Search API**   `apps/api/src/pipeline/orchestrator.ts` -&gt; `discoverChannels()`   A hard-coded list of portal URLs that goes stale. At report time the agent asks the live web where the current official reporting page is, per country, and scores the results for officialness (`.gov`, `.nic.in`, known platform domains). If the complainant gives a city, the query becomes city-specific - type *Gurugram* and the agent finds `gurgaon.haryanapolice.gov.in/cyber-crime`, the district's own cyber crime page, instead of a generic national portal.</a:t>
            </a:r>
            <a:r>
              <a:rPr sz="1150" b="0">
                <a:solidFill>
                  <a:srgbClr val="6E6689"/>
                </a:solidFill>
                <a:latin typeface="Inter"/>
              </a:rPr>
              <a:t>–  </a:t>
            </a:r>
          </a:p>
          <a:p>
            <a:pPr lvl="1">
              <a:lnSpc>
                <a:spcPct val="115000"/>
              </a:lnSpc>
              <a:spcAft>
                <a:spcPts val="300"/>
              </a:spcAft>
            </a:pPr>
            <a:r>
              <a:rPr sz="1150" b="0">
                <a:solidFill>
                  <a:srgbClr val="6E6689"/>
                </a:solidFill>
                <a:latin typeface="Inter"/>
              </a:rPr>
              <a:t>**Web Agent (SSE)**   `orchestrator.ts` -&gt; `analyseChannel()` and `fileChannel()`   A hard-coded form schema. The agent opens the real page and returns the *actual* fields, labels, required flags and evidence requests via `output_schema`; then, after approval, types the approved values and submits. The `PROGRESS` and `STREAMING_URL` SSE events are streamed straight into the user's browser as a live view of the agent working.</a:t>
            </a:r>
            <a:r>
              <a:rPr sz="1150" b="0">
                <a:solidFill>
                  <a:srgbClr val="6E6689"/>
                </a:solidFill>
                <a:latin typeface="Inter"/>
              </a:rPr>
              <a:t>–  </a:t>
            </a:r>
          </a:p>
          <a:p>
            <a:pPr lvl="1">
              <a:lnSpc>
                <a:spcPct val="115000"/>
              </a:lnSpc>
              <a:spcAft>
                <a:spcPts val="300"/>
              </a:spcAft>
            </a:pPr>
            <a:r>
              <a:rPr sz="1150" b="0">
                <a:solidFill>
                  <a:srgbClr val="6E6689"/>
                </a:solidFill>
                <a:latin typeface="Inter"/>
              </a:rPr>
              <a:t>**Fetch API**   evidence capture   Downloading a page to attach to the case file. Also the substrate of the Page Monitor.</a:t>
            </a:r>
            <a:r>
              <a:rPr sz="1150" b="0">
                <a:solidFill>
                  <a:srgbClr val="6E6689"/>
                </a:solidFill>
                <a:latin typeface="Inter"/>
              </a:rPr>
              <a:t>–  </a:t>
            </a:r>
          </a:p>
          <a:p>
            <a:pPr lvl="1">
              <a:lnSpc>
                <a:spcPct val="115000"/>
              </a:lnSpc>
              <a:spcAft>
                <a:spcPts val="300"/>
              </a:spcAft>
            </a:pPr>
            <a:r>
              <a:rPr sz="1150" b="0">
                <a:solidFill>
                  <a:srgbClr val="6E6689"/>
                </a:solidFill>
                <a:latin typeface="Inter"/>
              </a:rPr>
              <a:t>**Monitor API**   `orchestrator.ts` -&gt; `armMonitors()`   "We filed it and hoped." A Page Monitor re-checks the reported URL every 6 hours and reports a change; a Topic Monitor watches for a *clone* of the impersonation account appearing somewhere new.</a:t>
            </a:r>
            <a:r>
              <a:rPr sz="1150" b="0">
                <a:solidFill>
                  <a:srgbClr val="6E6689"/>
                </a:solidFill>
                <a:latin typeface="Inter"/>
              </a:rPr>
              <a:t>–  </a:t>
            </a:r>
          </a:p>
          <a:p>
            <a:pPr>
              <a:lnSpc>
                <a:spcPct val="115000"/>
              </a:lnSpc>
              <a:spcAft>
                <a:spcPts val="700"/>
              </a:spcAft>
            </a:pPr>
            <a:r>
              <a:rPr sz="1300" b="1">
                <a:solidFill>
                  <a:srgbClr val="2C2540"/>
                </a:solidFill>
                <a:latin typeface="Inter"/>
              </a:rPr>
              <a:t>**Where the agent is deliberately not used:** the triage decision and the</a:t>
            </a:r>
            <a:r>
              <a:rPr sz="1300" b="1">
                <a:solidFill>
                  <a:srgbClr val="F2603F"/>
                </a:solidFill>
                <a:latin typeface="Inter"/>
              </a:rPr>
              <a:t>•  </a:t>
            </a:r>
          </a:p>
          <a:p>
            <a:pPr>
              <a:lnSpc>
                <a:spcPct val="115000"/>
              </a:lnSpc>
              <a:spcAft>
                <a:spcPts val="700"/>
              </a:spcAft>
            </a:pPr>
            <a:r>
              <a:rPr sz="1300" b="1">
                <a:solidFill>
                  <a:srgbClr val="2C2540"/>
                </a:solidFill>
                <a:latin typeface="Inter"/>
              </a:rPr>
              <a:t>redaction of personal data. Those stay local, deterministic and auditable.</a:t>
            </a:r>
            <a:r>
              <a:rPr sz="1300" b="1">
                <a:solidFill>
                  <a:srgbClr val="F2603F"/>
                </a:solidFill>
                <a:latin typeface="Inter"/>
              </a:rPr>
              <a:t>•  </a:t>
            </a:r>
          </a:p>
          <a:p>
            <a:pPr>
              <a:lnSpc>
                <a:spcPct val="115000"/>
              </a:lnSpc>
              <a:spcAft>
                <a:spcPts val="700"/>
              </a:spcAft>
            </a:pPr>
            <a:r>
              <a:rPr sz="1300" b="1">
                <a:solidFill>
                  <a:srgbClr val="2C2540"/>
                </a:solidFill>
                <a:latin typeface="Inter"/>
              </a:rPr>
              <a:t>**Cost discipline.** Search and Fetch are free within TinyFish's daily</a:t>
            </a:r>
            <a:r>
              <a:rPr sz="1300" b="1">
                <a:solidFill>
                  <a:srgbClr val="F2603F"/>
                </a:solidFill>
                <a:latin typeface="Inter"/>
              </a:rPr>
              <a:t>•  </a:t>
            </a:r>
          </a:p>
          <a:p>
            <a:pPr>
              <a:lnSpc>
                <a:spcPct val="115000"/>
              </a:lnSpc>
              <a:spcAft>
                <a:spcPts val="700"/>
              </a:spcAft>
            </a:pPr>
            <a:r>
              <a:rPr sz="1300" b="1">
                <a:solidFill>
                  <a:srgbClr val="2C2540"/>
                </a:solidFill>
                <a:latin typeface="Inter"/>
              </a:rPr>
              <a:t>allowance; the Agent is metered per step ($0.016). ReclaimYourNet therefore:</a:t>
            </a:r>
            <a:r>
              <a:rPr sz="1300" b="1">
                <a:solidFill>
                  <a:srgbClr val="F2603F"/>
                </a:solidFill>
                <a:latin typeface="Inter"/>
              </a:rPr>
              <a:t>•  </a:t>
            </a:r>
          </a:p>
          <a:p>
            <a:pPr>
              <a:lnSpc>
                <a:spcPct val="115000"/>
              </a:lnSpc>
              <a:spcAft>
                <a:spcPts val="700"/>
              </a:spcAft>
            </a:pPr>
            <a:r>
              <a:rPr sz="1300" b="1">
                <a:solidFill>
                  <a:srgbClr val="2C2540"/>
                </a:solidFill>
                <a:latin typeface="Inter"/>
              </a:rPr>
              <a:t>runs archaeology once per channel and caches the field spec, splits filing into</a:t>
            </a:r>
            <a:r>
              <a:rPr sz="1300" b="1">
                <a:solidFill>
                  <a:srgbClr val="F2603F"/>
                </a:solidFill>
                <a:latin typeface="Inter"/>
              </a:rPr>
              <a:t>•  </a:t>
            </a:r>
          </a:p>
          <a:p>
            <a:pPr>
              <a:lnSpc>
                <a:spcPct val="115000"/>
              </a:lnSpc>
              <a:spcAft>
                <a:spcPts val="700"/>
              </a:spcAft>
            </a:pPr>
            <a:r>
              <a:rPr sz="1300" b="1">
                <a:solidFill>
                  <a:srgbClr val="2C2540"/>
                </a:solidFill>
                <a:latin typeface="Inter"/>
              </a:rPr>
              <a:t>"fill" and "submit" so a human approval sits between them, and never runs an</a:t>
            </a:r>
            <a:r>
              <a:rPr sz="1300" b="1">
                <a:solidFill>
                  <a:srgbClr val="F2603F"/>
                </a:solidFill>
                <a:latin typeface="Inter"/>
              </a:rPr>
              <a:t>•  </a:t>
            </a:r>
          </a:p>
          <a:p>
            <a:pPr>
              <a:lnSpc>
                <a:spcPct val="115000"/>
              </a:lnSpc>
              <a:spcAft>
                <a:spcPts val="700"/>
              </a:spcAft>
            </a:pPr>
            <a:r>
              <a:rPr sz="1300" b="1">
                <a:solidFill>
                  <a:srgbClr val="2C2540"/>
                </a:solidFill>
                <a:latin typeface="Inter"/>
              </a:rPr>
              <a:t>agent the user has not asked for.</a:t>
            </a:r>
            <a:r>
              <a:rPr sz="1300" b="1">
                <a:solidFill>
                  <a:srgbClr val="F2603F"/>
                </a:solidFill>
                <a:latin typeface="Inter"/>
              </a:rPr>
              <a:t>•  </a:t>
            </a:r>
          </a:p>
          <a:p>
            <a:pPr>
              <a:lnSpc>
                <a:spcPct val="115000"/>
              </a:lnSpc>
              <a:spcAft>
                <a:spcPts val="700"/>
              </a:spcAft>
            </a:pPr>
            <a:r>
              <a:rPr sz="1300" b="1">
                <a:solidFill>
                  <a:srgbClr val="2C2540"/>
                </a:solidFill>
                <a:latin typeface="Inter"/>
              </a:rPr>
              <a:t>**How a judge can verify this in 30 seconds:** the app has a "sandbox" toggle.</a:t>
            </a:r>
            <a:r>
              <a:rPr sz="1300" b="1">
                <a:solidFill>
                  <a:srgbClr val="F2603F"/>
                </a:solidFill>
                <a:latin typeface="Inter"/>
              </a:rPr>
              <a:t>•  </a:t>
            </a:r>
          </a:p>
          <a:p>
            <a:pPr>
              <a:lnSpc>
                <a:spcPct val="115000"/>
              </a:lnSpc>
              <a:spcAft>
                <a:spcPts val="700"/>
              </a:spcAft>
            </a:pPr>
            <a:r>
              <a:rPr sz="1300" b="1">
                <a:solidFill>
                  <a:srgbClr val="2C2540"/>
                </a:solidFill>
                <a:latin typeface="Inter"/>
              </a:rPr>
              <a:t>With it on, the agent drives the bundled clone of a real form instead of the real</a:t>
            </a:r>
            <a:r>
              <a:rPr sz="1300" b="1">
                <a:solidFill>
                  <a:srgbClr val="F2603F"/>
                </a:solidFill>
                <a:latin typeface="Inter"/>
              </a:rPr>
              <a:t>•  </a:t>
            </a:r>
          </a:p>
          <a:p>
            <a:pPr>
              <a:lnSpc>
                <a:spcPct val="115000"/>
              </a:lnSpc>
              <a:spcAft>
                <a:spcPts val="700"/>
              </a:spcAft>
            </a:pPr>
            <a:r>
              <a:rPr sz="1300" b="1">
                <a:solidFill>
                  <a:srgbClr val="2C2540"/>
                </a:solidFill>
                <a:latin typeface="Inter"/>
              </a:rPr>
              <a:t>site - same agent, same goal, same structured output, same live preview. The</a:t>
            </a:r>
            <a:r>
              <a:rPr sz="1300" b="1">
                <a:solidFill>
                  <a:srgbClr val="F2603F"/>
                </a:solidFill>
                <a:latin typeface="Inter"/>
              </a:rPr>
              <a:t>•  </a:t>
            </a:r>
          </a:p>
          <a:p>
            <a:pPr>
              <a:lnSpc>
                <a:spcPct val="115000"/>
              </a:lnSpc>
              <a:spcAft>
                <a:spcPts val="700"/>
              </a:spcAft>
            </a:pPr>
            <a:r>
              <a:rPr sz="1300" b="1">
                <a:solidFill>
                  <a:srgbClr val="2C2540"/>
                </a:solidFill>
                <a:latin typeface="Inter"/>
              </a:rPr>
              <a:t>agent really runs; only the target changes.</a:t>
            </a:r>
            <a:r>
              <a:rPr sz="1300" b="1">
                <a:solidFill>
                  <a:srgbClr val="F2603F"/>
                </a:solidFill>
                <a:latin typeface="Inter"/>
              </a:rP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Architecture</a:t>
            </a:r>
          </a:p>
        </p:txBody>
      </p:sp>
      <p:sp>
        <p:nvSpPr>
          <p:cNvPr id="5" name="TextBox 4"/>
          <p:cNvSpPr txBox="1"/>
          <p:nvPr/>
        </p:nvSpPr>
        <p:spPr>
          <a:xfrm>
            <a:off x="777240" y="1325880"/>
            <a:ext cx="10607040" cy="182880"/>
          </a:xfrm>
          <a:prstGeom prst="rect">
            <a:avLst/>
          </a:prstGeom>
          <a:noFill/>
        </p:spPr>
        <p:txBody>
          <a:bodyPr wrap="square">
            <a:spAutoFit/>
          </a:bodyPr>
          <a:lstStyle/>
          <a:p>
            <a:pPr>
              <a:lnSpc>
                <a:spcPct val="100000"/>
              </a:lnSpc>
              <a:spcAft>
                <a:spcPts val="0"/>
              </a:spcAft>
            </a:pPr>
            <a:r>
              <a:rPr sz="1150">
                <a:solidFill>
                  <a:srgbClr val="443C5E"/>
                </a:solidFill>
                <a:latin typeface="Consolas"/>
              </a:rPr>
              <a:t> browser (React 19 + Vite + Tailwind)</a:t>
            </a:r>
          </a:p>
          <a:p>
            <a:pPr>
              <a:lnSpc>
                <a:spcPct val="100000"/>
              </a:lnSpc>
              <a:spcAft>
                <a:spcPts val="0"/>
              </a:spcAft>
            </a:pPr>
            <a:r>
              <a:rPr sz="1150">
                <a:solidFill>
                  <a:srgbClr val="443C5E"/>
                </a:solidFill>
                <a:latin typeface="Consolas"/>
              </a:rPr>
              <a:t>   |  POST /api/cases        -&gt; explainable triage (local ML, in the API)</a:t>
            </a:r>
          </a:p>
          <a:p>
            <a:pPr>
              <a:lnSpc>
                <a:spcPct val="100000"/>
              </a:lnSpc>
              <a:spcAft>
                <a:spcPts val="0"/>
              </a:spcAft>
            </a:pPr>
            <a:r>
              <a:rPr sz="1150">
                <a:solidFill>
                  <a:srgbClr val="443C5E"/>
                </a:solidFill>
                <a:latin typeface="Consolas"/>
              </a:rPr>
              <a:t>   |  POST /api/action       -&gt; ONE request per agent run, streamed back:</a:t>
            </a:r>
          </a:p>
          <a:p>
            <a:pPr>
              <a:lnSpc>
                <a:spcPct val="100000"/>
              </a:lnSpc>
              <a:spcAft>
                <a:spcPts val="0"/>
              </a:spcAft>
            </a:pPr>
            <a:r>
              <a:rPr sz="1150">
                <a:solidFill>
                  <a:srgbClr val="443C5E"/>
                </a:solidFill>
                <a:latin typeface="Consolas"/>
              </a:rPr>
              <a:t>   |     { action, case }      the case travels with the request, and the run's</a:t>
            </a:r>
          </a:p>
          <a:p>
            <a:pPr>
              <a:lnSpc>
                <a:spcPct val="100000"/>
              </a:lnSpc>
              <a:spcAft>
                <a:spcPts val="0"/>
              </a:spcAft>
            </a:pPr>
            <a:r>
              <a:rPr sz="1150">
                <a:solidFill>
                  <a:srgbClr val="443C5E"/>
                </a:solidFill>
                <a:latin typeface="Consolas"/>
              </a:rPr>
              <a:t>   |                           events + result come back on one connection</a:t>
            </a:r>
          </a:p>
          <a:p>
            <a:pPr>
              <a:lnSpc>
                <a:spcPct val="100000"/>
              </a:lnSpc>
              <a:spcAft>
                <a:spcPts val="0"/>
              </a:spcAft>
            </a:pPr>
            <a:r>
              <a:rPr sz="1150">
                <a:solidFill>
                  <a:srgbClr val="443C5E"/>
                </a:solidFill>
                <a:latin typeface="Consolas"/>
              </a:rPr>
              <a:t>   v</a:t>
            </a:r>
          </a:p>
          <a:p>
            <a:pPr>
              <a:lnSpc>
                <a:spcPct val="100000"/>
              </a:lnSpc>
              <a:spcAft>
                <a:spcPts val="0"/>
              </a:spcAft>
            </a:pPr>
            <a:r>
              <a:rPr sz="1150">
                <a:solidFill>
                  <a:srgbClr val="443C5E"/>
                </a:solidFill>
                <a:latin typeface="Consolas"/>
              </a:rPr>
              <a:t> API (Fastify 5, Node 20+, TypeScript)</a:t>
            </a:r>
          </a:p>
          <a:p>
            <a:pPr>
              <a:lnSpc>
                <a:spcPct val="100000"/>
              </a:lnSpc>
              <a:spcAft>
                <a:spcPts val="0"/>
              </a:spcAft>
            </a:pPr>
            <a:r>
              <a:rPr sz="1150">
                <a:solidFill>
                  <a:srgbClr val="443C5E"/>
                </a:solidFill>
                <a:latin typeface="Consolas"/>
              </a:rPr>
              <a:t>   |- @reclaim/core      classifier, taxonomy, planner, redaction  (no network)</a:t>
            </a:r>
          </a:p>
          <a:p>
            <a:pPr>
              <a:lnSpc>
                <a:spcPct val="100000"/>
              </a:lnSpc>
              <a:spcAft>
                <a:spcPts val="0"/>
              </a:spcAft>
            </a:pPr>
            <a:r>
              <a:rPr sz="1150">
                <a:solidFill>
                  <a:srgbClr val="443C5E"/>
                </a:solidFill>
                <a:latin typeface="Consolas"/>
              </a:rPr>
              <a:t>   |- pipeline           discover -&gt; analyse -&gt; review -&gt; file -&gt; monitor</a:t>
            </a:r>
          </a:p>
          <a:p>
            <a:pPr>
              <a:lnSpc>
                <a:spcPct val="100000"/>
              </a:lnSpc>
              <a:spcAft>
                <a:spcPts val="0"/>
              </a:spcAft>
            </a:pPr>
            <a:r>
              <a:rPr sz="1150">
                <a:solidFill>
                  <a:srgbClr val="443C5E"/>
                </a:solidFill>
                <a:latin typeface="Consolas"/>
              </a:rPr>
              <a:t>   |- evidence           SHA-256 hash chain + PDFKit case file</a:t>
            </a:r>
          </a:p>
          <a:p>
            <a:pPr>
              <a:lnSpc>
                <a:spcPct val="100000"/>
              </a:lnSpc>
              <a:spcAft>
                <a:spcPts val="0"/>
              </a:spcAft>
            </a:pPr>
            <a:r>
              <a:rPr sz="1150">
                <a:solidFill>
                  <a:srgbClr val="443C5E"/>
                </a:solidFill>
                <a:latin typeface="Consolas"/>
              </a:rPr>
              <a:t>   |- store              in-memory only. A report is never written to disk.</a:t>
            </a:r>
          </a:p>
          <a:p>
            <a:pPr>
              <a:lnSpc>
                <a:spcPct val="100000"/>
              </a:lnSpc>
              <a:spcAft>
                <a:spcPts val="0"/>
              </a:spcAft>
            </a:pPr>
            <a:r>
              <a:rPr sz="1150">
                <a:solidFill>
                  <a:srgbClr val="443C5E"/>
                </a:solidFill>
                <a:latin typeface="Consolas"/>
              </a:rPr>
              <a:t>   v</a:t>
            </a:r>
          </a:p>
          <a:p>
            <a:pPr>
              <a:lnSpc>
                <a:spcPct val="100000"/>
              </a:lnSpc>
              <a:spcAft>
                <a:spcPts val="0"/>
              </a:spcAft>
            </a:pPr>
            <a:r>
              <a:rPr sz="1150">
                <a:solidFill>
                  <a:srgbClr val="443C5E"/>
                </a:solidFill>
                <a:latin typeface="Consolas"/>
              </a:rPr>
              <a:t> TinyFish</a:t>
            </a:r>
          </a:p>
          <a:p>
            <a:pPr>
              <a:lnSpc>
                <a:spcPct val="100000"/>
              </a:lnSpc>
              <a:spcAft>
                <a:spcPts val="0"/>
              </a:spcAft>
            </a:pPr>
            <a:r>
              <a:rPr sz="1150">
                <a:solidFill>
                  <a:srgbClr val="443C5E"/>
                </a:solidFill>
                <a:latin typeface="Consolas"/>
              </a:rPr>
              <a:t>   |- Search   live portal + helpline discovery</a:t>
            </a:r>
          </a:p>
          <a:p>
            <a:pPr>
              <a:lnSpc>
                <a:spcPct val="100000"/>
              </a:lnSpc>
              <a:spcAft>
                <a:spcPts val="0"/>
              </a:spcAft>
            </a:pPr>
            <a:r>
              <a:rPr sz="1150">
                <a:solidFill>
                  <a:srgbClr val="443C5E"/>
                </a:solidFill>
                <a:latin typeface="Consolas"/>
              </a:rPr>
              <a:t>   |- Agent    read the live form, fill it, submit it  (SSE + output_schema)</a:t>
            </a:r>
          </a:p>
          <a:p>
            <a:pPr>
              <a:lnSpc>
                <a:spcPct val="100000"/>
              </a:lnSpc>
              <a:spcAft>
                <a:spcPts val="0"/>
              </a:spcAft>
            </a:pPr>
            <a:r>
              <a:rPr sz="1150">
                <a:solidFill>
                  <a:srgbClr val="443C5E"/>
                </a:solidFill>
                <a:latin typeface="Consolas"/>
              </a:rPr>
              <a:t>   |- Fetch    evidence snapshots</a:t>
            </a:r>
          </a:p>
          <a:p>
            <a:pPr>
              <a:lnSpc>
                <a:spcPct val="100000"/>
              </a:lnSpc>
              <a:spcAft>
                <a:spcPts val="0"/>
              </a:spcAft>
            </a:pPr>
            <a:r>
              <a:rPr sz="1150">
                <a:solidFill>
                  <a:srgbClr val="443C5E"/>
                </a:solidFill>
                <a:latin typeface="Consolas"/>
              </a:rPr>
              <a:t>   |- Monitor  follow-up checks on the reported URL</a:t>
            </a:r>
          </a:p>
        </p:txBody>
      </p:sp>
      <p:sp>
        <p:nvSpPr>
          <p:cNvPr id="6" name="TextBox 5"/>
          <p:cNvSpPr txBox="1"/>
          <p:nvPr/>
        </p:nvSpPr>
        <p:spPr>
          <a:xfrm>
            <a:off x="777240" y="2953512"/>
            <a:ext cx="10607040" cy="3355848"/>
          </a:xfrm>
          <a:prstGeom prst="rect">
            <a:avLst/>
          </a:prstGeom>
          <a:noFill/>
        </p:spPr>
        <p:txBody>
          <a:bodyPr wrap="square">
            <a:spAutoFit/>
          </a:bodyPr>
          <a:lstStyle/>
          <a:p>
            <a:pPr>
              <a:lnSpc>
                <a:spcPct val="115000"/>
              </a:lnSpc>
              <a:spcAft>
                <a:spcPts val="700"/>
              </a:spcAft>
            </a:pPr>
            <a:r>
              <a:rPr sz="1300" b="1">
                <a:solidFill>
                  <a:srgbClr val="2C2540"/>
                </a:solidFill>
                <a:latin typeface="Inter"/>
              </a:rPr>
              <a:t>**Three decisions that matter:**</a:t>
            </a:r>
            <a:r>
              <a:rPr sz="1300" b="1">
                <a:solidFill>
                  <a:srgbClr val="F2603F"/>
                </a:solidFill>
                <a:latin typeface="Inter"/>
              </a:rPr>
              <a:t>•  </a:t>
            </a:r>
          </a:p>
          <a:p>
            <a:pPr>
              <a:lnSpc>
                <a:spcPct val="115000"/>
              </a:lnSpc>
              <a:spcAft>
                <a:spcPts val="700"/>
              </a:spcAft>
            </a:pPr>
            <a:r>
              <a:rPr sz="1300" b="1">
                <a:solidFill>
                  <a:srgbClr val="2C2540"/>
                </a:solidFill>
                <a:latin typeface="Inter"/>
              </a:rPr>
              <a:t>1. **The model decides *what* this is; the agent decides *what to do* on the</a:t>
            </a:r>
            <a:r>
              <a:rPr sz="1300" b="1">
                <a:solidFill>
                  <a:srgbClr val="F2603F"/>
                </a:solidFill>
                <a:latin typeface="Inter"/>
              </a:rPr>
              <a:t>•  </a:t>
            </a:r>
          </a:p>
          <a:p>
            <a:pPr lvl="1">
              <a:lnSpc>
                <a:spcPct val="115000"/>
              </a:lnSpc>
              <a:spcAft>
                <a:spcPts val="300"/>
              </a:spcAft>
            </a:pPr>
            <a:r>
              <a:rPr sz="1150" b="0">
                <a:solidFill>
                  <a:srgbClr val="6E6689"/>
                </a:solidFill>
                <a:latin typeface="Inter"/>
              </a:rPr>
              <a:t>actual web; the human decides *what gets submitted*.** No layer can submit</a:t>
            </a:r>
            <a:r>
              <a:rPr sz="1150" b="0">
                <a:solidFill>
                  <a:srgbClr val="6E6689"/>
                </a:solidFill>
                <a:latin typeface="Inter"/>
              </a:rPr>
              <a:t>–  </a:t>
            </a:r>
          </a:p>
          <a:p>
            <a:pPr lvl="1">
              <a:lnSpc>
                <a:spcPct val="115000"/>
              </a:lnSpc>
              <a:spcAft>
                <a:spcPts val="300"/>
              </a:spcAft>
            </a:pPr>
            <a:r>
              <a:rPr sz="1150" b="0">
                <a:solidFill>
                  <a:srgbClr val="6E6689"/>
                </a:solidFill>
                <a:latin typeface="Inter"/>
              </a:rPr>
              <a:t>anything on its own.</a:t>
            </a:r>
            <a:r>
              <a:rPr sz="1150" b="0">
                <a:solidFill>
                  <a:srgbClr val="6E6689"/>
                </a:solidFill>
                <a:latin typeface="Inter"/>
              </a:rPr>
              <a:t>–  </a:t>
            </a:r>
          </a:p>
          <a:p>
            <a:pPr>
              <a:lnSpc>
                <a:spcPct val="115000"/>
              </a:lnSpc>
              <a:spcAft>
                <a:spcPts val="700"/>
              </a:spcAft>
            </a:pPr>
            <a:r>
              <a:rPr sz="1300" b="1">
                <a:solidFill>
                  <a:srgbClr val="2C2540"/>
                </a:solidFill>
                <a:latin typeface="Inter"/>
              </a:rPr>
              <a:t>2. **One request per agent run, streamed back.** A serverless platform gives</a:t>
            </a:r>
            <a:r>
              <a:rPr sz="1300" b="1">
                <a:solidFill>
                  <a:srgbClr val="F2603F"/>
                </a:solidFill>
                <a:latin typeface="Inter"/>
              </a:rPr>
              <a:t>•  </a:t>
            </a:r>
          </a:p>
          <a:p>
            <a:pPr lvl="1">
              <a:lnSpc>
                <a:spcPct val="115000"/>
              </a:lnSpc>
              <a:spcAft>
                <a:spcPts val="300"/>
              </a:spcAft>
            </a:pPr>
            <a:r>
              <a:rPr sz="1150" b="0">
                <a:solidFill>
                  <a:srgbClr val="6E6689"/>
                </a:solidFill>
                <a:latin typeface="Inter"/>
              </a:rPr>
              <a:t>every request a fresh instance with no memory of the last one - so the case</a:t>
            </a:r>
            <a:r>
              <a:rPr sz="1150" b="0">
                <a:solidFill>
                  <a:srgbClr val="6E6689"/>
                </a:solidFill>
                <a:latin typeface="Inter"/>
              </a:rPr>
              <a:t>–  </a:t>
            </a:r>
          </a:p>
          <a:p>
            <a:pPr lvl="1">
              <a:lnSpc>
                <a:spcPct val="115000"/>
              </a:lnSpc>
              <a:spcAft>
                <a:spcPts val="300"/>
              </a:spcAft>
            </a:pPr>
            <a:r>
              <a:rPr sz="1150" b="0">
                <a:solidFill>
                  <a:srgbClr val="6E6689"/>
                </a:solidFill>
                <a:latin typeface="Inter"/>
              </a:rPr>
              <a:t>travels with the request, and the run, the live browser preview and the</a:t>
            </a:r>
            <a:r>
              <a:rPr sz="1150" b="0">
                <a:solidFill>
                  <a:srgbClr val="6E6689"/>
                </a:solidFill>
                <a:latin typeface="Inter"/>
              </a:rPr>
              <a:t>–  </a:t>
            </a:r>
          </a:p>
          <a:p>
            <a:pPr lvl="1">
              <a:lnSpc>
                <a:spcPct val="115000"/>
              </a:lnSpc>
              <a:spcAft>
                <a:spcPts val="300"/>
              </a:spcAft>
            </a:pPr>
            <a:r>
              <a:rPr sz="1150" b="0">
                <a:solidFill>
                  <a:srgbClr val="6E6689"/>
                </a:solidFill>
                <a:latin typeface="Inter"/>
              </a:rPr>
              <a:t>result all travel on one connection.</a:t>
            </a:r>
            <a:r>
              <a:rPr sz="1150" b="0">
                <a:solidFill>
                  <a:srgbClr val="6E6689"/>
                </a:solidFill>
                <a:latin typeface="Inter"/>
              </a:rPr>
              <a:t>–  </a:t>
            </a:r>
          </a:p>
          <a:p>
            <a:pPr>
              <a:lnSpc>
                <a:spcPct val="115000"/>
              </a:lnSpc>
              <a:spcAft>
                <a:spcPts val="700"/>
              </a:spcAft>
            </a:pPr>
            <a:r>
              <a:rPr sz="1300" b="1">
                <a:solidFill>
                  <a:srgbClr val="2C2540"/>
                </a:solidFill>
                <a:latin typeface="Inter"/>
              </a:rPr>
              <a:t>3. **Nothing is persisted.** No account, no user database, no analytics, no</a:t>
            </a:r>
            <a:r>
              <a:rPr sz="1300" b="1">
                <a:solidFill>
                  <a:srgbClr val="F2603F"/>
                </a:solidFill>
                <a:latin typeface="Inter"/>
              </a:rPr>
              <a:t>•  </a:t>
            </a:r>
          </a:p>
          <a:p>
            <a:pPr lvl="1">
              <a:lnSpc>
                <a:spcPct val="115000"/>
              </a:lnSpc>
              <a:spcAft>
                <a:spcPts val="300"/>
              </a:spcAft>
            </a:pPr>
            <a:r>
              <a:rPr sz="1150" b="0">
                <a:solidFill>
                  <a:srgbClr val="6E6689"/>
                </a:solidFill>
                <a:latin typeface="Inter"/>
              </a:rPr>
              <a:t>tracking. A report lives in the memory of the app and dies with the tab.</a:t>
            </a:r>
            <a:r>
              <a:rPr sz="1150" b="0">
                <a:solidFill>
                  <a:srgbClr val="6E6689"/>
                </a:solidFill>
                <a:latin typeface="Inter"/>
              </a:rPr>
              <a:t>–  </a:t>
            </a:r>
          </a:p>
          <a:p>
            <a:pPr lvl="1">
              <a:lnSpc>
                <a:spcPct val="115000"/>
              </a:lnSpc>
              <a:spcAft>
                <a:spcPts val="300"/>
              </a:spcAft>
            </a:pPr>
            <a:r>
              <a:rPr sz="1150" b="0">
                <a:solidFill>
                  <a:srgbClr val="6E6689"/>
                </a:solidFill>
                <a:latin typeface="Inter"/>
              </a:rPr>
              <a:t>The only copy that outlives the session is the PDF the user downloads.</a:t>
            </a:r>
            <a:r>
              <a:rPr sz="1150" b="0">
                <a:solidFill>
                  <a:srgbClr val="6E6689"/>
                </a:solidFill>
                <a:latin typeface="Inter"/>
              </a:rPr>
              <a: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Demo (3 minutes)</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1. **00:00 - Describe.** Type (or dictate) one sentence about a fake account</a:t>
            </a:r>
            <a:r>
              <a:rPr sz="1300" b="1">
                <a:solidFill>
                  <a:srgbClr val="F2603F"/>
                </a:solidFill>
                <a:latin typeface="Inter"/>
              </a:rPr>
              <a:t>•  </a:t>
            </a:r>
          </a:p>
          <a:p>
            <a:pPr lvl="1">
              <a:lnSpc>
                <a:spcPct val="115000"/>
              </a:lnSpc>
              <a:spcAft>
                <a:spcPts val="300"/>
              </a:spcAft>
            </a:pPr>
            <a:r>
              <a:rPr sz="1150" b="0">
                <a:solidFill>
                  <a:srgbClr val="6E6689"/>
                </a:solidFill>
                <a:latin typeface="Inter"/>
              </a:rPr>
              <a:t>using your photo and asking your friends for money. Pick one of the example</a:t>
            </a:r>
            <a:r>
              <a:rPr sz="1150" b="0">
                <a:solidFill>
                  <a:srgbClr val="6E6689"/>
                </a:solidFill>
                <a:latin typeface="Inter"/>
              </a:rPr>
              <a:t>–  </a:t>
            </a:r>
          </a:p>
          <a:p>
            <a:pPr lvl="1">
              <a:lnSpc>
                <a:spcPct val="115000"/>
              </a:lnSpc>
              <a:spcAft>
                <a:spcPts val="300"/>
              </a:spcAft>
            </a:pPr>
            <a:r>
              <a:rPr sz="1150" b="0">
                <a:solidFill>
                  <a:srgbClr val="6E6689"/>
                </a:solidFill>
                <a:latin typeface="Inter"/>
              </a:rPr>
              <a:t>chips on the home screen.</a:t>
            </a:r>
            <a:r>
              <a:rPr sz="1150" b="0">
                <a:solidFill>
                  <a:srgbClr val="6E6689"/>
                </a:solidFill>
                <a:latin typeface="Inter"/>
              </a:rPr>
              <a:t>–  </a:t>
            </a:r>
          </a:p>
          <a:p>
            <a:pPr>
              <a:lnSpc>
                <a:spcPct val="115000"/>
              </a:lnSpc>
              <a:spcAft>
                <a:spcPts val="700"/>
              </a:spcAft>
            </a:pPr>
            <a:r>
              <a:rPr sz="1300" b="1">
                <a:solidFill>
                  <a:srgbClr val="2C2540"/>
                </a:solidFill>
                <a:latin typeface="Inter"/>
              </a:rPr>
              <a:t>2. **00:20 - Triage.** The model labels it (image misuse, impersonation, doxxing,</a:t>
            </a:r>
            <a:r>
              <a:rPr sz="1300" b="1">
                <a:solidFill>
                  <a:srgbClr val="F2603F"/>
                </a:solidFill>
                <a:latin typeface="Inter"/>
              </a:rPr>
              <a:t>•  </a:t>
            </a:r>
          </a:p>
          <a:p>
            <a:pPr lvl="1">
              <a:lnSpc>
                <a:spcPct val="115000"/>
              </a:lnSpc>
              <a:spcAft>
                <a:spcPts val="300"/>
              </a:spcAft>
            </a:pPr>
            <a:r>
              <a:rPr sz="1150" b="0">
                <a:solidFill>
                  <a:srgbClr val="6E6689"/>
                </a:solidFill>
                <a:latin typeface="Inter"/>
              </a:rPr>
              <a:t>financial fraud), the urgency banner explains *why* it is time-sensitive, and</a:t>
            </a:r>
            <a:r>
              <a:rPr sz="1150" b="0">
                <a:solidFill>
                  <a:srgbClr val="6E6689"/>
                </a:solidFill>
                <a:latin typeface="Inter"/>
              </a:rPr>
              <a:t>–  </a:t>
            </a:r>
          </a:p>
          <a:p>
            <a:pPr lvl="1">
              <a:lnSpc>
                <a:spcPct val="115000"/>
              </a:lnSpc>
              <a:spcAft>
                <a:spcPts val="300"/>
              </a:spcAft>
            </a:pPr>
            <a:r>
              <a:rPr sz="1150" b="0">
                <a:solidFill>
                  <a:srgbClr val="6E6689"/>
                </a:solidFill>
                <a:latin typeface="Inter"/>
              </a:rPr>
              <a:t>your phone number is masked in every summary.</a:t>
            </a:r>
            <a:r>
              <a:rPr sz="1150" b="0">
                <a:solidFill>
                  <a:srgbClr val="6E6689"/>
                </a:solidFill>
                <a:latin typeface="Inter"/>
              </a:rPr>
              <a:t>–  </a:t>
            </a:r>
          </a:p>
          <a:p>
            <a:pPr>
              <a:lnSpc>
                <a:spcPct val="115000"/>
              </a:lnSpc>
              <a:spcAft>
                <a:spcPts val="700"/>
              </a:spcAft>
            </a:pPr>
            <a:r>
              <a:rPr sz="1300" b="1">
                <a:solidFill>
                  <a:srgbClr val="2C2540"/>
                </a:solidFill>
                <a:latin typeface="Inter"/>
              </a:rPr>
              <a:t>3. **00:40 - Your details.** The box at the top is editable at any point. Add a</a:t>
            </a:r>
            <a:r>
              <a:rPr sz="1300" b="1">
                <a:solidFill>
                  <a:srgbClr val="F2603F"/>
                </a:solidFill>
                <a:latin typeface="Inter"/>
              </a:rPr>
              <a:t>•  </a:t>
            </a:r>
          </a:p>
          <a:p>
            <a:pPr lvl="1">
              <a:lnSpc>
                <a:spcPct val="115000"/>
              </a:lnSpc>
              <a:spcAft>
                <a:spcPts val="300"/>
              </a:spcAft>
            </a:pPr>
            <a:r>
              <a:rPr sz="1150" b="0">
                <a:solidFill>
                  <a:srgbClr val="6E6689"/>
                </a:solidFill>
                <a:latin typeface="Inter"/>
              </a:rPr>
              <a:t>name, email, mobile and city once, and every form below fills itself.</a:t>
            </a:r>
            <a:r>
              <a:rPr sz="1150" b="0">
                <a:solidFill>
                  <a:srgbClr val="6E6689"/>
                </a:solidFill>
                <a:latin typeface="Inter"/>
              </a:rPr>
              <a:t>–  </a:t>
            </a:r>
          </a:p>
          <a:p>
            <a:pPr>
              <a:lnSpc>
                <a:spcPct val="115000"/>
              </a:lnSpc>
              <a:spcAft>
                <a:spcPts val="700"/>
              </a:spcAft>
            </a:pPr>
            <a:r>
              <a:rPr sz="1300" b="1">
                <a:solidFill>
                  <a:srgbClr val="2C2540"/>
                </a:solidFill>
                <a:latin typeface="Inter"/>
              </a:rPr>
              <a:t>4. **00:55 - Coverage map.** 8 routes ranked "do now" vs "also consider", each</a:t>
            </a:r>
            <a:r>
              <a:rPr sz="1300" b="1">
                <a:solidFill>
                  <a:srgbClr val="F2603F"/>
                </a:solidFill>
                <a:latin typeface="Inter"/>
              </a:rPr>
              <a:t>•  </a:t>
            </a:r>
          </a:p>
          <a:p>
            <a:pPr lvl="1">
              <a:lnSpc>
                <a:spcPct val="115000"/>
              </a:lnSpc>
              <a:spcAft>
                <a:spcPts val="300"/>
              </a:spcAft>
            </a:pPr>
            <a:r>
              <a:rPr sz="1150" b="0">
                <a:solidFill>
                  <a:srgbClr val="6E6689"/>
                </a:solidFill>
                <a:latin typeface="Inter"/>
              </a:rPr>
              <a:t>with the reason it applies and its deadline. The gap panel says what you</a:t>
            </a:r>
            <a:r>
              <a:rPr sz="1150" b="0">
                <a:solidFill>
                  <a:srgbClr val="6E6689"/>
                </a:solidFill>
                <a:latin typeface="Inter"/>
              </a:rPr>
              <a:t>–  </a:t>
            </a:r>
          </a:p>
          <a:p>
            <a:pPr lvl="1">
              <a:lnSpc>
                <a:spcPct val="115000"/>
              </a:lnSpc>
              <a:spcAft>
                <a:spcPts val="300"/>
              </a:spcAft>
            </a:pPr>
            <a:r>
              <a:rPr sz="1150" b="0">
                <a:solidFill>
                  <a:srgbClr val="6E6689"/>
                </a:solidFill>
                <a:latin typeface="Inter"/>
              </a:rPr>
              <a:t>*have not* covered: "no police FIR - a cybercrime complaint is not enough, only</a:t>
            </a:r>
            <a:r>
              <a:rPr sz="1150" b="0">
                <a:solidFill>
                  <a:srgbClr val="6E6689"/>
                </a:solidFill>
                <a:latin typeface="Inter"/>
              </a:rPr>
              <a:t>–  </a:t>
            </a:r>
          </a:p>
          <a:p>
            <a:pPr lvl="1">
              <a:lnSpc>
                <a:spcPct val="115000"/>
              </a:lnSpc>
              <a:spcAft>
                <a:spcPts val="300"/>
              </a:spcAft>
            </a:pPr>
            <a:r>
              <a:rPr sz="1150" b="0">
                <a:solidFill>
                  <a:srgbClr val="6E6689"/>
                </a:solidFill>
                <a:latin typeface="Inter"/>
              </a:rPr>
              <a:t>an FIR starts the clock on a refund claim." With a city, the local station is</a:t>
            </a:r>
            <a:r>
              <a:rPr sz="1150" b="0">
                <a:solidFill>
                  <a:srgbClr val="6E6689"/>
                </a:solidFill>
                <a:latin typeface="Inter"/>
              </a:rPr>
              <a:t>–  </a:t>
            </a:r>
          </a:p>
          <a:p>
            <a:pPr lvl="1">
              <a:lnSpc>
                <a:spcPct val="115000"/>
              </a:lnSpc>
              <a:spcAft>
                <a:spcPts val="300"/>
              </a:spcAft>
            </a:pPr>
            <a:r>
              <a:rPr sz="1150" b="0">
                <a:solidFill>
                  <a:srgbClr val="6E6689"/>
                </a:solidFill>
                <a:latin typeface="Inter"/>
              </a:rPr>
              <a:t>the one it finds (`gurgaon.haryanapolice.gov.in/cyber-crime`).</a:t>
            </a:r>
            <a:r>
              <a:rPr sz="1150" b="0">
                <a:solidFill>
                  <a:srgbClr val="6E6689"/>
                </a:solidFill>
                <a:latin typeface="Inter"/>
              </a:rPr>
              <a:t>–  </a:t>
            </a:r>
          </a:p>
          <a:p>
            <a:pPr>
              <a:lnSpc>
                <a:spcPct val="115000"/>
              </a:lnSpc>
              <a:spcAft>
                <a:spcPts val="700"/>
              </a:spcAft>
            </a:pPr>
            <a:r>
              <a:rPr sz="1300" b="1">
                <a:solidFill>
                  <a:srgbClr val="2C2540"/>
                </a:solidFill>
                <a:latin typeface="Inter"/>
              </a:rPr>
              <a:t>5. **01:20 - Watch it work.** Press "Read the form" on Instagram. The TinyFish</a:t>
            </a:r>
            <a:r>
              <a:rPr sz="1300" b="1">
                <a:solidFill>
                  <a:srgbClr val="F2603F"/>
                </a:solidFill>
                <a:latin typeface="Inter"/>
              </a:rPr>
              <a:t>•  </a:t>
            </a:r>
          </a:p>
          <a:p>
            <a:pPr lvl="1">
              <a:lnSpc>
                <a:spcPct val="115000"/>
              </a:lnSpc>
              <a:spcAft>
                <a:spcPts val="300"/>
              </a:spcAft>
            </a:pPr>
            <a:r>
              <a:rPr sz="1150" b="0">
                <a:solidFill>
                  <a:srgbClr val="6E6689"/>
                </a:solidFill>
                <a:latin typeface="Inter"/>
              </a:rPr>
              <a:t>agent opens the page in a remote browser; the browser appears live in the</a:t>
            </a:r>
            <a:r>
              <a:rPr sz="1150" b="0">
                <a:solidFill>
                  <a:srgbClr val="6E6689"/>
                </a:solidFill>
                <a:latin typeface="Inter"/>
              </a:rPr>
              <a:t>–  </a:t>
            </a:r>
          </a:p>
          <a:p>
            <a:pPr lvl="1">
              <a:lnSpc>
                <a:spcPct val="115000"/>
              </a:lnSpc>
              <a:spcAft>
                <a:spcPts val="300"/>
              </a:spcAft>
            </a:pPr>
            <a:r>
              <a:rPr sz="1150" b="0">
                <a:solidFill>
                  <a:srgbClr val="6E6689"/>
                </a:solidFill>
                <a:latin typeface="Inter"/>
              </a:rPr>
              <a:t>app, and the timeline shows what it is doing. It comes back with the *actual*</a:t>
            </a:r>
            <a:r>
              <a:rPr sz="1150" b="0">
                <a:solidFill>
                  <a:srgbClr val="6E6689"/>
                </a:solidFill>
                <a:latin typeface="Inter"/>
              </a:rPr>
              <a:t>–  </a:t>
            </a:r>
          </a:p>
          <a:p>
            <a:pPr lvl="1">
              <a:lnSpc>
                <a:spcPct val="115000"/>
              </a:lnSpc>
              <a:spcAft>
                <a:spcPts val="300"/>
              </a:spcAft>
            </a:pPr>
            <a:r>
              <a:rPr sz="1150" b="0">
                <a:solidFill>
                  <a:srgbClr val="6E6689"/>
                </a:solidFill>
                <a:latin typeface="Inter"/>
              </a:rPr>
              <a:t>fields the page has today, dropdown options included.</a:t>
            </a:r>
            <a:r>
              <a:rPr sz="1150" b="0">
                <a:solidFill>
                  <a:srgbClr val="6E6689"/>
                </a:solidFill>
                <a:latin typeface="Inter"/>
              </a:rPr>
              <a:t>–  </a:t>
            </a:r>
          </a:p>
          <a:p>
            <a:pPr>
              <a:lnSpc>
                <a:spcPct val="115000"/>
              </a:lnSpc>
              <a:spcAft>
                <a:spcPts val="700"/>
              </a:spcAft>
            </a:pPr>
            <a:r>
              <a:rPr sz="1300" b="1">
                <a:solidFill>
                  <a:srgbClr val="2C2540"/>
                </a:solidFill>
                <a:latin typeface="Inter"/>
              </a:rPr>
              <a:t>6. **01:50 - Review and file.** Every value the agent will type is shown, with</a:t>
            </a:r>
            <a:r>
              <a:rPr sz="1300" b="1">
                <a:solidFill>
                  <a:srgbClr val="F2603F"/>
                </a:solidFill>
                <a:latin typeface="Inter"/>
              </a:rPr>
              <a:t>•  </a:t>
            </a:r>
          </a:p>
          <a:p>
            <a:pPr lvl="1">
              <a:lnSpc>
                <a:spcPct val="115000"/>
              </a:lnSpc>
              <a:spcAft>
                <a:spcPts val="300"/>
              </a:spcAft>
            </a:pPr>
            <a:r>
              <a:rPr sz="1150" b="0">
                <a:solidFill>
                  <a:srgbClr val="6E6689"/>
                </a:solidFill>
                <a:latin typeface="Inter"/>
              </a:rPr>
              <a:t>the blank ones highlighted in yellow and fillable right there. Approve, then</a:t>
            </a:r>
            <a:r>
              <a:rPr sz="1150" b="0">
                <a:solidFill>
                  <a:srgbClr val="6E6689"/>
                </a:solidFill>
                <a:latin typeface="Inter"/>
              </a:rPr>
              <a:t>–  </a:t>
            </a:r>
          </a:p>
          <a:p>
            <a:pPr lvl="1">
              <a:lnSpc>
                <a:spcPct val="115000"/>
              </a:lnSpc>
              <a:spcAft>
                <a:spcPts val="300"/>
              </a:spcAft>
            </a:pPr>
            <a:r>
              <a:rPr sz="1150" b="0">
                <a:solidFill>
                  <a:srgbClr val="6E6689"/>
                </a:solidFill>
                <a:latin typeface="Inter"/>
              </a:rPr>
              <a:t>"Fill &amp; submit". The agent types, stops, submits, and returns the reference</a:t>
            </a:r>
            <a:r>
              <a:rPr sz="1150" b="0">
                <a:solidFill>
                  <a:srgbClr val="6E6689"/>
                </a:solidFill>
                <a:latin typeface="Inter"/>
              </a:rPr>
              <a:t>–  </a:t>
            </a:r>
          </a:p>
          <a:p>
            <a:pPr lvl="1">
              <a:lnSpc>
                <a:spcPct val="115000"/>
              </a:lnSpc>
              <a:spcAft>
                <a:spcPts val="300"/>
              </a:spcAft>
            </a:pPr>
            <a:r>
              <a:rPr sz="1150" b="0">
                <a:solidFill>
                  <a:srgbClr val="6E6689"/>
                </a:solidFill>
                <a:latin typeface="Inter"/>
              </a:rPr>
              <a:t>number - which lands in the evidence vault with a hash.</a:t>
            </a:r>
            <a:r>
              <a:rPr sz="1150" b="0">
                <a:solidFill>
                  <a:srgbClr val="6E6689"/>
                </a:solidFill>
                <a:latin typeface="Inter"/>
              </a:rPr>
              <a:t>–  </a:t>
            </a:r>
          </a:p>
          <a:p>
            <a:pPr>
              <a:lnSpc>
                <a:spcPct val="115000"/>
              </a:lnSpc>
              <a:spcAft>
                <a:spcPts val="700"/>
              </a:spcAft>
            </a:pPr>
            <a:r>
              <a:rPr sz="1300" b="1">
                <a:solidFill>
                  <a:srgbClr val="2C2540"/>
                </a:solidFill>
                <a:latin typeface="Inter"/>
              </a:rPr>
              <a:t>7. **02:20 - Proof and follow-up.** Download the case file PDF (incident</a:t>
            </a:r>
            <a:r>
              <a:rPr sz="1300" b="1">
                <a:solidFill>
                  <a:srgbClr val="F2603F"/>
                </a:solidFill>
                <a:latin typeface="Inter"/>
              </a:rPr>
              <a:t>•  </a:t>
            </a:r>
          </a:p>
          <a:p>
            <a:pPr lvl="1">
              <a:lnSpc>
                <a:spcPct val="115000"/>
              </a:lnSpc>
              <a:spcAft>
                <a:spcPts val="300"/>
              </a:spcAft>
            </a:pPr>
            <a:r>
              <a:rPr sz="1150" b="0">
                <a:solidFill>
                  <a:srgbClr val="6E6689"/>
                </a:solidFill>
                <a:latin typeface="Inter"/>
              </a:rPr>
              <a:t>narrative, every channel and its reference number, the hash chain). Arm</a:t>
            </a:r>
            <a:r>
              <a:rPr sz="1150" b="0">
                <a:solidFill>
                  <a:srgbClr val="6E6689"/>
                </a:solidFill>
                <a:latin typeface="Inter"/>
              </a:rPr>
              <a:t>–  </a:t>
            </a:r>
          </a:p>
          <a:p>
            <a:pPr lvl="1">
              <a:lnSpc>
                <a:spcPct val="115000"/>
              </a:lnSpc>
              <a:spcAft>
                <a:spcPts val="300"/>
              </a:spcAft>
            </a:pPr>
            <a:r>
              <a:rPr sz="1150" b="0">
                <a:solidFill>
                  <a:srgbClr val="6E6689"/>
                </a:solidFill>
                <a:latin typeface="Inter"/>
              </a:rPr>
              <a:t>follow-up: a monitor now watches the reported URL.</a:t>
            </a:r>
            <a:r>
              <a:rPr sz="1150" b="0">
                <a:solidFill>
                  <a:srgbClr val="6E6689"/>
                </a:solidFill>
                <a:latin typeface="Inter"/>
              </a:rPr>
              <a: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Expected impact</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**Time-to-report drops from hours to minutes.** The 7-route impersonation</a:t>
            </a:r>
            <a:r>
              <a:rPr sz="1300" b="1">
                <a:solidFill>
                  <a:srgbClr val="F2603F"/>
                </a:solidFill>
                <a:latin typeface="Inter"/>
              </a:rPr>
              <a:t>•  </a:t>
            </a:r>
          </a:p>
          <a:p>
            <a:pPr lvl="1">
              <a:lnSpc>
                <a:spcPct val="115000"/>
              </a:lnSpc>
              <a:spcAft>
                <a:spcPts val="300"/>
              </a:spcAft>
            </a:pPr>
            <a:r>
              <a:rPr sz="1150" b="0">
                <a:solidFill>
                  <a:srgbClr val="6E6689"/>
                </a:solidFill>
                <a:latin typeface="Inter"/>
              </a:rPr>
              <a:t>scenario above is one description and one review.</a:t>
            </a:r>
            <a:r>
              <a:rPr sz="1150" b="0">
                <a:solidFill>
                  <a:srgbClr val="6E6689"/>
                </a:solidFill>
                <a:latin typeface="Inter"/>
              </a:rPr>
              <a:t>–  </a:t>
            </a:r>
          </a:p>
          <a:p>
            <a:pPr>
              <a:lnSpc>
                <a:spcPct val="115000"/>
              </a:lnSpc>
              <a:spcAft>
                <a:spcPts val="700"/>
              </a:spcAft>
            </a:pPr>
            <a:r>
              <a:rPr sz="1300" b="1">
                <a:solidFill>
                  <a:srgbClr val="2C2540"/>
                </a:solidFill>
                <a:latin typeface="Inter"/>
              </a:rPr>
              <a:t>**Coverage gaps stop being invisible.** The gap panel is the part we think</a:t>
            </a:r>
            <a:r>
              <a:rPr sz="1300" b="1">
                <a:solidFill>
                  <a:srgbClr val="F2603F"/>
                </a:solidFill>
                <a:latin typeface="Inter"/>
              </a:rPr>
              <a:t>•  </a:t>
            </a:r>
          </a:p>
          <a:p>
            <a:pPr lvl="1">
              <a:lnSpc>
                <a:spcPct val="115000"/>
              </a:lnSpc>
              <a:spcAft>
                <a:spcPts val="300"/>
              </a:spcAft>
            </a:pPr>
            <a:r>
              <a:rPr sz="1150" b="0">
                <a:solidFill>
                  <a:srgbClr val="6E6689"/>
                </a:solidFill>
                <a:latin typeface="Inter"/>
              </a:rPr>
              <a:t>matters most: most victims do not know that a platform report is not a legal</a:t>
            </a:r>
            <a:r>
              <a:rPr sz="1150" b="0">
                <a:solidFill>
                  <a:srgbClr val="6E6689"/>
                </a:solidFill>
                <a:latin typeface="Inter"/>
              </a:rPr>
              <a:t>–  </a:t>
            </a:r>
          </a:p>
          <a:p>
            <a:pPr lvl="1">
              <a:lnSpc>
                <a:spcPct val="115000"/>
              </a:lnSpc>
              <a:spcAft>
                <a:spcPts val="300"/>
              </a:spcAft>
            </a:pPr>
            <a:r>
              <a:rPr sz="1150" b="0">
                <a:solidFill>
                  <a:srgbClr val="6E6689"/>
                </a:solidFill>
                <a:latin typeface="Inter"/>
              </a:rPr>
              <a:t>record, or that a bank dispute has a 24-hour freeze window, or that an FIR is</a:t>
            </a:r>
            <a:r>
              <a:rPr sz="1150" b="0">
                <a:solidFill>
                  <a:srgbClr val="6E6689"/>
                </a:solidFill>
                <a:latin typeface="Inter"/>
              </a:rPr>
              <a:t>–  </a:t>
            </a:r>
          </a:p>
          <a:p>
            <a:pPr lvl="1">
              <a:lnSpc>
                <a:spcPct val="115000"/>
              </a:lnSpc>
              <a:spcAft>
                <a:spcPts val="300"/>
              </a:spcAft>
            </a:pPr>
            <a:r>
              <a:rPr sz="1150" b="0">
                <a:solidFill>
                  <a:srgbClr val="6E6689"/>
                </a:solidFill>
                <a:latin typeface="Inter"/>
              </a:rPr>
              <a:t>required for a refund claim. That gap analysis is the product.</a:t>
            </a:r>
            <a:r>
              <a:rPr sz="1150" b="0">
                <a:solidFill>
                  <a:srgbClr val="6E6689"/>
                </a:solidFill>
                <a:latin typeface="Inter"/>
              </a:rPr>
              <a:t>–  </a:t>
            </a:r>
          </a:p>
          <a:p>
            <a:pPr>
              <a:lnSpc>
                <a:spcPct val="115000"/>
              </a:lnSpc>
              <a:spcAft>
                <a:spcPts val="700"/>
              </a:spcAft>
            </a:pPr>
            <a:r>
              <a:rPr sz="1300" b="1">
                <a:solidFill>
                  <a:srgbClr val="2C2540"/>
                </a:solidFill>
                <a:latin typeface="Inter"/>
              </a:rPr>
              <a:t>**Jurisdiction stops being generic.** "Report it to the police" is useless</a:t>
            </a:r>
            <a:r>
              <a:rPr sz="1300" b="1">
                <a:solidFill>
                  <a:srgbClr val="F2603F"/>
                </a:solidFill>
                <a:latin typeface="Inter"/>
              </a:rPr>
              <a:t>•  </a:t>
            </a:r>
          </a:p>
          <a:p>
            <a:pPr lvl="1">
              <a:lnSpc>
                <a:spcPct val="115000"/>
              </a:lnSpc>
              <a:spcAft>
                <a:spcPts val="300"/>
              </a:spcAft>
            </a:pPr>
            <a:r>
              <a:rPr sz="1150" b="0">
                <a:solidFill>
                  <a:srgbClr val="6E6689"/>
                </a:solidFill>
                <a:latin typeface="Inter"/>
              </a:rPr>
              <a:t>advice. The agent resolves *whose* police - for Gurugram it found</a:t>
            </a:r>
            <a:r>
              <a:rPr sz="1150" b="0">
                <a:solidFill>
                  <a:srgbClr val="6E6689"/>
                </a:solidFill>
                <a:latin typeface="Inter"/>
              </a:rPr>
              <a:t>–  </a:t>
            </a:r>
          </a:p>
          <a:p>
            <a:pPr lvl="1">
              <a:lnSpc>
                <a:spcPct val="115000"/>
              </a:lnSpc>
              <a:spcAft>
                <a:spcPts val="300"/>
              </a:spcAft>
            </a:pPr>
            <a:r>
              <a:rPr sz="1150" b="0">
                <a:solidFill>
                  <a:srgbClr val="6E6689"/>
                </a:solidFill>
                <a:latin typeface="Inter"/>
              </a:rPr>
              <a:t>`gurgaon.haryanapolice.gov.in/cyber-crime` live, because a FIR can only be</a:t>
            </a:r>
            <a:r>
              <a:rPr sz="1150" b="0">
                <a:solidFill>
                  <a:srgbClr val="6E6689"/>
                </a:solidFill>
                <a:latin typeface="Inter"/>
              </a:rPr>
              <a:t>–  </a:t>
            </a:r>
          </a:p>
          <a:p>
            <a:pPr lvl="1">
              <a:lnSpc>
                <a:spcPct val="115000"/>
              </a:lnSpc>
              <a:spcAft>
                <a:spcPts val="300"/>
              </a:spcAft>
            </a:pPr>
            <a:r>
              <a:rPr sz="1150" b="0">
                <a:solidFill>
                  <a:srgbClr val="6E6689"/>
                </a:solidFill>
                <a:latin typeface="Inter"/>
              </a:rPr>
              <a:t>registered by the station with jurisdiction over where you live.</a:t>
            </a:r>
            <a:r>
              <a:rPr sz="1150" b="0">
                <a:solidFill>
                  <a:srgbClr val="6E6689"/>
                </a:solidFill>
                <a:latin typeface="Inter"/>
              </a:rPr>
              <a:t>–  </a:t>
            </a:r>
          </a:p>
          <a:p>
            <a:pPr>
              <a:lnSpc>
                <a:spcPct val="115000"/>
              </a:lnSpc>
              <a:spcAft>
                <a:spcPts val="700"/>
              </a:spcAft>
            </a:pPr>
            <a:r>
              <a:rPr sz="1300" b="1">
                <a:solidFill>
                  <a:srgbClr val="2C2540"/>
                </a:solidFill>
                <a:latin typeface="Inter"/>
              </a:rPr>
              <a:t>**Pre-emptive protection is mainstreamed.** Take It Down, StopNCII, Takedown</a:t>
            </a:r>
            <a:r>
              <a:rPr sz="1300" b="1">
                <a:solidFill>
                  <a:srgbClr val="F2603F"/>
                </a:solidFill>
                <a:latin typeface="Inter"/>
              </a:rPr>
              <a:t>•  </a:t>
            </a:r>
          </a:p>
          <a:p>
            <a:pPr lvl="1">
              <a:lnSpc>
                <a:spcPct val="115000"/>
              </a:lnSpc>
              <a:spcAft>
                <a:spcPts val="300"/>
              </a:spcAft>
            </a:pPr>
            <a:r>
              <a:rPr sz="1150" b="0">
                <a:solidFill>
                  <a:srgbClr val="6E6689"/>
                </a:solidFill>
                <a:latin typeface="Inter"/>
              </a:rPr>
              <a:t>and RemoveHer are near-unknown to the public and are the cheapest defence</a:t>
            </a:r>
            <a:r>
              <a:rPr sz="1150" b="0">
                <a:solidFill>
                  <a:srgbClr val="6E6689"/>
                </a:solidFill>
                <a:latin typeface="Inter"/>
              </a:rPr>
              <a:t>–  </a:t>
            </a:r>
          </a:p>
          <a:p>
            <a:pPr lvl="1">
              <a:lnSpc>
                <a:spcPct val="115000"/>
              </a:lnSpc>
              <a:spcAft>
                <a:spcPts val="300"/>
              </a:spcAft>
            </a:pPr>
            <a:r>
              <a:rPr sz="1150" b="0">
                <a:solidFill>
                  <a:srgbClr val="6E6689"/>
                </a:solidFill>
                <a:latin typeface="Inter"/>
              </a:rPr>
              <a:t>against morphed and AI-generated content. We surface them *at the moment they</a:t>
            </a:r>
            <a:r>
              <a:rPr sz="1150" b="0">
                <a:solidFill>
                  <a:srgbClr val="6E6689"/>
                </a:solidFill>
                <a:latin typeface="Inter"/>
              </a:rPr>
              <a:t>–  </a:t>
            </a:r>
          </a:p>
          <a:p>
            <a:pPr lvl="1">
              <a:lnSpc>
                <a:spcPct val="115000"/>
              </a:lnSpc>
              <a:spcAft>
                <a:spcPts val="300"/>
              </a:spcAft>
            </a:pPr>
            <a:r>
              <a:rPr sz="1150" b="0">
                <a:solidFill>
                  <a:srgbClr val="6E6689"/>
                </a:solidFill>
                <a:latin typeface="Inter"/>
              </a:rPr>
              <a:t>are useful* - and we say so in the product, because most people do not know</a:t>
            </a:r>
            <a:r>
              <a:rPr sz="1150" b="0">
                <a:solidFill>
                  <a:srgbClr val="6E6689"/>
                </a:solidFill>
                <a:latin typeface="Inter"/>
              </a:rPr>
              <a:t>–  </a:t>
            </a:r>
          </a:p>
          <a:p>
            <a:pPr lvl="1">
              <a:lnSpc>
                <a:spcPct val="115000"/>
              </a:lnSpc>
              <a:spcAft>
                <a:spcPts val="300"/>
              </a:spcAft>
            </a:pPr>
            <a:r>
              <a:rPr sz="1150" b="0">
                <a:solidFill>
                  <a:srgbClr val="6E6689"/>
                </a:solidFill>
                <a:latin typeface="Inter"/>
              </a:rPr>
              <a:t>they exist.</a:t>
            </a:r>
            <a:r>
              <a:rPr sz="1150" b="0">
                <a:solidFill>
                  <a:srgbClr val="6E6689"/>
                </a:solidFill>
                <a:latin typeface="Inter"/>
              </a:rPr>
              <a:t>–  </a:t>
            </a:r>
          </a:p>
          <a:p>
            <a:pPr>
              <a:lnSpc>
                <a:spcPct val="115000"/>
              </a:lnSpc>
              <a:spcAft>
                <a:spcPts val="700"/>
              </a:spcAft>
            </a:pPr>
            <a:r>
              <a:rPr sz="1300" b="1">
                <a:solidFill>
                  <a:srgbClr val="2C2540"/>
                </a:solidFill>
                <a:latin typeface="Inter"/>
              </a:rPr>
              <a:t>**Proof becomes a by-product.** A tamper-evident evidence chain and a</a:t>
            </a:r>
            <a:r>
              <a:rPr sz="1300" b="1">
                <a:solidFill>
                  <a:srgbClr val="F2603F"/>
                </a:solidFill>
                <a:latin typeface="Inter"/>
              </a:rPr>
              <a:t>•  </a:t>
            </a:r>
          </a:p>
          <a:p>
            <a:pPr lvl="1">
              <a:lnSpc>
                <a:spcPct val="115000"/>
              </a:lnSpc>
              <a:spcAft>
                <a:spcPts val="300"/>
              </a:spcAft>
            </a:pPr>
            <a:r>
              <a:rPr sz="1150" b="0">
                <a:solidFill>
                  <a:srgbClr val="6E6689"/>
                </a:solidFill>
                <a:latin typeface="Inter"/>
              </a:rPr>
              <a:t>printable case file make a report usable with a bank, a police station or a</a:t>
            </a:r>
            <a:r>
              <a:rPr sz="1150" b="0">
                <a:solidFill>
                  <a:srgbClr val="6E6689"/>
                </a:solidFill>
                <a:latin typeface="Inter"/>
              </a:rPr>
              <a:t>–  </a:t>
            </a:r>
          </a:p>
          <a:p>
            <a:pPr lvl="1">
              <a:lnSpc>
                <a:spcPct val="115000"/>
              </a:lnSpc>
              <a:spcAft>
                <a:spcPts val="300"/>
              </a:spcAft>
            </a:pPr>
            <a:r>
              <a:rPr sz="1150" b="0">
                <a:solidFill>
                  <a:srgbClr val="6E6689"/>
                </a:solidFill>
                <a:latin typeface="Inter"/>
              </a:rPr>
              <a:t>lawyer - and a regulator.</a:t>
            </a:r>
            <a:r>
              <a:rPr sz="1150" b="0">
                <a:solidFill>
                  <a:srgbClr val="6E6689"/>
                </a:solidFill>
                <a:latin typeface="Inter"/>
              </a:rPr>
              <a:t>–  </a:t>
            </a:r>
          </a:p>
          <a:p>
            <a:pPr>
              <a:lnSpc>
                <a:spcPct val="115000"/>
              </a:lnSpc>
              <a:spcAft>
                <a:spcPts val="700"/>
              </a:spcAft>
            </a:pPr>
            <a:r>
              <a:rPr sz="1300" b="1">
                <a:solidFill>
                  <a:srgbClr val="2C2540"/>
                </a:solidFill>
                <a:latin typeface="Inter"/>
              </a:rPr>
              <a:t>**A measurable metric:** of the gaps we detect, what share did the user</a:t>
            </a:r>
            <a:r>
              <a:rPr sz="1300" b="1">
                <a:solidFill>
                  <a:srgbClr val="F2603F"/>
                </a:solidFill>
                <a:latin typeface="Inter"/>
              </a:rPr>
              <a:t>•  </a:t>
            </a:r>
          </a:p>
          <a:p>
            <a:pPr lvl="1">
              <a:lnSpc>
                <a:spcPct val="115000"/>
              </a:lnSpc>
              <a:spcAft>
                <a:spcPts val="300"/>
              </a:spcAft>
            </a:pPr>
            <a:r>
              <a:rPr sz="1150" b="0">
                <a:solidFill>
                  <a:srgbClr val="6E6689"/>
                </a:solidFill>
                <a:latin typeface="Inter"/>
              </a:rPr>
              <a:t>close? That is the number that would show the product working.</a:t>
            </a:r>
            <a:r>
              <a:rPr sz="1150" b="0">
                <a:solidFill>
                  <a:srgbClr val="6E6689"/>
                </a:solidFill>
                <a:latin typeface="Inter"/>
              </a:rPr>
              <a: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Revenue model</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**Free consumer product, paid API for the organisations that receive the</a:t>
            </a:r>
            <a:r>
              <a:rPr sz="1300" b="1">
                <a:solidFill>
                  <a:srgbClr val="F2603F"/>
                </a:solidFill>
                <a:latin typeface="Inter"/>
              </a:rPr>
              <a:t>•  </a:t>
            </a:r>
          </a:p>
          <a:p>
            <a:pPr>
              <a:lnSpc>
                <a:spcPct val="115000"/>
              </a:lnSpc>
              <a:spcAft>
                <a:spcPts val="700"/>
              </a:spcAft>
            </a:pPr>
            <a:r>
              <a:rPr sz="1300" b="1">
                <a:solidFill>
                  <a:srgbClr val="2C2540"/>
                </a:solidFill>
                <a:latin typeface="Inter"/>
              </a:rPr>
              <a:t>reports.**</a:t>
            </a:r>
            <a:r>
              <a:rPr sz="1300" b="1">
                <a:solidFill>
                  <a:srgbClr val="F2603F"/>
                </a:solidFill>
                <a:latin typeface="Inter"/>
              </a:rPr>
              <a:t>•  </a:t>
            </a:r>
          </a:p>
          <a:p>
            <a:pPr lvl="1">
              <a:lnSpc>
                <a:spcPct val="115000"/>
              </a:lnSpc>
              <a:spcAft>
                <a:spcPts val="300"/>
              </a:spcAft>
            </a:pPr>
            <a:r>
              <a:rPr sz="1150" b="0">
                <a:solidFill>
                  <a:srgbClr val="6E6689"/>
                </a:solidFill>
                <a:latin typeface="Inter"/>
              </a:rPr>
              <a:t>Plan   Price   Who   What they get</a:t>
            </a:r>
            <a:r>
              <a:rPr sz="1150" b="0">
                <a:solidFill>
                  <a:srgbClr val="6E6689"/>
                </a:solidFill>
                <a:latin typeface="Inter"/>
              </a:rPr>
              <a:t>–  </a:t>
            </a:r>
          </a:p>
          <a:p>
            <a:pPr lvl="1">
              <a:lnSpc>
                <a:spcPct val="115000"/>
              </a:lnSpc>
              <a:spcAft>
                <a:spcPts val="300"/>
              </a:spcAft>
            </a:pPr>
            <a:r>
              <a:rPr sz="1150" b="0">
                <a:solidFill>
                  <a:srgbClr val="6E6689"/>
                </a:solidFill>
                <a:latin typeface="Inter"/>
              </a:rPr>
              <a:t>Free   Rs 0   Anyone reporting one incident   Full triage, live portal discovery, file on 2 channels, case file PDF</a:t>
            </a:r>
            <a:r>
              <a:rPr sz="1150" b="0">
                <a:solidFill>
                  <a:srgbClr val="6E6689"/>
                </a:solidFill>
                <a:latin typeface="Inter"/>
              </a:rPr>
              <a:t>–  </a:t>
            </a:r>
          </a:p>
          <a:p>
            <a:pPr lvl="1">
              <a:lnSpc>
                <a:spcPct val="115000"/>
              </a:lnSpc>
              <a:spcAft>
                <a:spcPts val="300"/>
              </a:spcAft>
            </a:pPr>
            <a:r>
              <a:rPr sz="1150" b="0">
                <a:solidFill>
                  <a:srgbClr val="6E6689"/>
                </a:solidFill>
                <a:latin typeface="Inter"/>
              </a:rPr>
              <a:t>Pro   Rs 499 / month   Someone handling a case on their own   Unlimited channels, agent files every form, evidence vault, follow-up monitors, pre-emptive protection arming</a:t>
            </a:r>
            <a:r>
              <a:rPr sz="1150" b="0">
                <a:solidFill>
                  <a:srgbClr val="6E6689"/>
                </a:solidFill>
                <a:latin typeface="Inter"/>
              </a:rPr>
              <a:t>–  </a:t>
            </a:r>
          </a:p>
          <a:p>
            <a:pPr lvl="1">
              <a:lnSpc>
                <a:spcPct val="115000"/>
              </a:lnSpc>
              <a:spcAft>
                <a:spcPts val="300"/>
              </a:spcAft>
            </a:pPr>
            <a:r>
              <a:rPr sz="1150" b="0">
                <a:solidFill>
                  <a:srgbClr val="6E6689"/>
                </a:solidFill>
                <a:latin typeface="Inter"/>
              </a:rPr>
              <a:t>For organisations   Rs 4,999 / person / month   NGOs, victim-support orgs, campus safety   Multi-case workspace and assignment, shared evidence vault, SLA tracking, escalation templates</a:t>
            </a:r>
            <a:r>
              <a:rPr sz="1150" b="0">
                <a:solidFill>
                  <a:srgbClr val="6E6689"/>
                </a:solidFill>
                <a:latin typeface="Inter"/>
              </a:rPr>
              <a:t>–  </a:t>
            </a:r>
          </a:p>
          <a:p>
            <a:pPr lvl="1">
              <a:lnSpc>
                <a:spcPct val="115000"/>
              </a:lnSpc>
              <a:spcAft>
                <a:spcPts val="300"/>
              </a:spcAft>
            </a:pPr>
            <a:r>
              <a:rPr sz="1150" b="0">
                <a:solidFill>
                  <a:srgbClr val="6E6689"/>
                </a:solidFill>
                <a:latin typeface="Inter"/>
              </a:rPr>
              <a:t>**ReclaimYourNet API**   **Rs 49,999 / month + usage**   **Trust &amp; Safety, fraud and compliance teams at banks and platforms**   **Incident in, regulator-ready case file out. Live channel graph per jurisdiction, SLA clocks and breach alerts, audit-grade evidence chain, webhooks for case and monitor events**</a:t>
            </a:r>
            <a:r>
              <a:rPr sz="1150" b="0">
                <a:solidFill>
                  <a:srgbClr val="6E6689"/>
                </a:solidFill>
                <a:latin typeface="Inter"/>
              </a:rPr>
              <a:t>–  </a:t>
            </a:r>
          </a:p>
          <a:p>
            <a:pPr>
              <a:lnSpc>
                <a:spcPct val="115000"/>
              </a:lnSpc>
              <a:spcAft>
                <a:spcPts val="700"/>
              </a:spcAft>
            </a:pPr>
            <a:r>
              <a:rPr sz="1300" b="1">
                <a:solidFill>
                  <a:srgbClr val="2C2540"/>
                </a:solidFill>
                <a:latin typeface="Inter"/>
              </a:rPr>
              <a:t>**Unit economics (measured, not guessed):**</a:t>
            </a:r>
            <a:r>
              <a:rPr sz="1300" b="1">
                <a:solidFill>
                  <a:srgbClr val="F2603F"/>
                </a:solidFill>
                <a:latin typeface="Inter"/>
              </a:rPr>
              <a:t>•  </a:t>
            </a:r>
          </a:p>
          <a:p>
            <a:pPr lvl="1">
              <a:lnSpc>
                <a:spcPct val="115000"/>
              </a:lnSpc>
              <a:spcAft>
                <a:spcPts val="300"/>
              </a:spcAft>
            </a:pPr>
            <a:r>
              <a:rPr sz="1150" b="0">
                <a:solidFill>
                  <a:srgbClr val="6E6689"/>
                </a:solidFill>
                <a:latin typeface="Inter"/>
              </a:rPr>
              <a:t>Line   Cost</a:t>
            </a:r>
            <a:r>
              <a:rPr sz="1150" b="0">
                <a:solidFill>
                  <a:srgbClr val="6E6689"/>
                </a:solidFill>
                <a:latin typeface="Inter"/>
              </a:rPr>
              <a:t>–  </a:t>
            </a:r>
          </a:p>
          <a:p>
            <a:pPr lvl="1">
              <a:lnSpc>
                <a:spcPct val="115000"/>
              </a:lnSpc>
              <a:spcAft>
                <a:spcPts val="300"/>
              </a:spcAft>
            </a:pPr>
            <a:r>
              <a:rPr sz="1150" b="0">
                <a:solidFill>
                  <a:srgbClr val="6E6689"/>
                </a:solidFill>
                <a:latin typeface="Inter"/>
              </a:rPr>
              <a:t>TinyFish Search   Rs 0 - free within the daily allowance (12,000/day)</a:t>
            </a:r>
            <a:r>
              <a:rPr sz="1150" b="0">
                <a:solidFill>
                  <a:srgbClr val="6E6689"/>
                </a:solidFill>
                <a:latin typeface="Inter"/>
              </a:rPr>
              <a:t>–  </a:t>
            </a:r>
          </a:p>
          <a:p>
            <a:pPr lvl="1">
              <a:lnSpc>
                <a:spcPct val="115000"/>
              </a:lnSpc>
              <a:spcAft>
                <a:spcPts val="300"/>
              </a:spcAft>
            </a:pPr>
            <a:r>
              <a:rPr sz="1150" b="0">
                <a:solidFill>
                  <a:srgbClr val="6E6689"/>
                </a:solidFill>
                <a:latin typeface="Inter"/>
              </a:rPr>
              <a:t>TinyFish Fetch   Rs 0 per URL - free within the daily allowance</a:t>
            </a:r>
            <a:r>
              <a:rPr sz="1150" b="0">
                <a:solidFill>
                  <a:srgbClr val="6E6689"/>
                </a:solidFill>
                <a:latin typeface="Inter"/>
              </a:rPr>
              <a:t>–  </a:t>
            </a:r>
          </a:p>
          <a:p>
            <a:pPr lvl="1">
              <a:lnSpc>
                <a:spcPct val="115000"/>
              </a:lnSpc>
              <a:spcAft>
                <a:spcPts val="300"/>
              </a:spcAft>
            </a:pPr>
            <a:r>
              <a:rPr sz="1150" b="0">
                <a:solidFill>
                  <a:srgbClr val="6E6689"/>
                </a:solidFill>
                <a:latin typeface="Inter"/>
              </a:rPr>
              <a:t>TinyFish Agent   Rs 1.35 per step</a:t>
            </a:r>
            <a:r>
              <a:rPr sz="1150" b="0">
                <a:solidFill>
                  <a:srgbClr val="6E6689"/>
                </a:solidFill>
                <a:latin typeface="Inter"/>
              </a:rPr>
              <a:t>–  </a:t>
            </a:r>
          </a:p>
          <a:p>
            <a:pPr lvl="1">
              <a:lnSpc>
                <a:spcPct val="115000"/>
              </a:lnSpc>
              <a:spcAft>
                <a:spcPts val="300"/>
              </a:spcAft>
            </a:pPr>
            <a:r>
              <a:rPr sz="1150" b="0">
                <a:solidFill>
                  <a:srgbClr val="6E6689"/>
                </a:solidFill>
                <a:latin typeface="Inter"/>
              </a:rPr>
              <a:t>TinyFish Monitor   Rs 0.42 per run (~Rs 12 a month for a daily check)</a:t>
            </a:r>
            <a:r>
              <a:rPr sz="1150" b="0">
                <a:solidFill>
                  <a:srgbClr val="6E6689"/>
                </a:solidFill>
                <a:latin typeface="Inter"/>
              </a:rPr>
              <a:t>–  </a:t>
            </a:r>
          </a:p>
          <a:p>
            <a:pPr lvl="1">
              <a:lnSpc>
                <a:spcPct val="115000"/>
              </a:lnSpc>
              <a:spcAft>
                <a:spcPts val="300"/>
              </a:spcAft>
            </a:pPr>
            <a:r>
              <a:rPr sz="1150" b="0">
                <a:solidFill>
                  <a:srgbClr val="6E6689"/>
                </a:solidFill>
                <a:latin typeface="Inter"/>
              </a:rPr>
              <a:t>**A full case (2 platform + 2 authority channels, read + fill + submit)**   **Rs 25-50 in agent credits**</a:t>
            </a:r>
            <a:r>
              <a:rPr sz="1150" b="0">
                <a:solidFill>
                  <a:srgbClr val="6E6689"/>
                </a:solidFill>
                <a:latin typeface="Inter"/>
              </a:rPr>
              <a:t>–  </a:t>
            </a:r>
          </a:p>
          <a:p>
            <a:pPr>
              <a:lnSpc>
                <a:spcPct val="115000"/>
              </a:lnSpc>
              <a:spcAft>
                <a:spcPts val="700"/>
              </a:spcAft>
            </a:pPr>
            <a:r>
              <a:rPr sz="1300" b="1">
                <a:solidFill>
                  <a:srgbClr val="2C2540"/>
                </a:solidFill>
                <a:latin typeface="Inter"/>
              </a:rPr>
              <a:t>So a Pro subscription at Rs 499 carries a ~90% gross margin, and the API tier at</a:t>
            </a:r>
            <a:r>
              <a:rPr sz="1300" b="1">
                <a:solidFill>
                  <a:srgbClr val="F2603F"/>
                </a:solidFill>
                <a:latin typeface="Inter"/>
              </a:rPr>
              <a:t>•  </a:t>
            </a:r>
          </a:p>
          <a:p>
            <a:pPr>
              <a:lnSpc>
                <a:spcPct val="115000"/>
              </a:lnSpc>
              <a:spcAft>
                <a:spcPts val="700"/>
              </a:spcAft>
            </a:pPr>
            <a:r>
              <a:rPr sz="1300" b="1">
                <a:solidFill>
                  <a:srgbClr val="2C2540"/>
                </a:solidFill>
                <a:latin typeface="Inter"/>
              </a:rPr>
              <a:t>Rs 49,999 plus usage is priced with the same cost structure plus the compliance</a:t>
            </a:r>
            <a:r>
              <a:rPr sz="1300" b="1">
                <a:solidFill>
                  <a:srgbClr val="F2603F"/>
                </a:solidFill>
                <a:latin typeface="Inter"/>
              </a:rPr>
              <a:t>•  </a:t>
            </a:r>
          </a:p>
          <a:p>
            <a:pPr>
              <a:lnSpc>
                <a:spcPct val="115000"/>
              </a:lnSpc>
              <a:spcAft>
                <a:spcPts val="700"/>
              </a:spcAft>
            </a:pPr>
            <a:r>
              <a:rPr sz="1300" b="1">
                <a:solidFill>
                  <a:srgbClr val="2C2540"/>
                </a:solidFill>
                <a:latin typeface="Inter"/>
              </a:rPr>
              <a:t>value of a regulator-ready audit trail.</a:t>
            </a:r>
            <a:r>
              <a:rPr sz="1300" b="1">
                <a:solidFill>
                  <a:srgbClr val="F2603F"/>
                </a:solidFill>
                <a:latin typeface="Inter"/>
              </a:rPr>
              <a:t>•  </a:t>
            </a:r>
          </a:p>
          <a:p>
            <a:pPr>
              <a:lnSpc>
                <a:spcPct val="115000"/>
              </a:lnSpc>
              <a:spcAft>
                <a:spcPts val="700"/>
              </a:spcAft>
            </a:pPr>
            <a:r>
              <a:rPr sz="1300" b="1">
                <a:solidFill>
                  <a:srgbClr val="2C2540"/>
                </a:solidFill>
                <a:latin typeface="Inter"/>
              </a:rPr>
              <a:t>**Why someone pays for the API, not just the app:** a bank's fraud desk is</a:t>
            </a:r>
            <a:r>
              <a:rPr sz="1300" b="1">
                <a:solidFill>
                  <a:srgbClr val="F2603F"/>
                </a:solidFill>
                <a:latin typeface="Inter"/>
              </a:rPr>
              <a:t>•  </a:t>
            </a:r>
          </a:p>
          <a:p>
            <a:pPr>
              <a:lnSpc>
                <a:spcPct val="115000"/>
              </a:lnSpc>
              <a:spcAft>
                <a:spcPts val="700"/>
              </a:spcAft>
            </a:pPr>
            <a:r>
              <a:rPr sz="1300" b="1">
                <a:solidFill>
                  <a:srgbClr val="2C2540"/>
                </a:solidFill>
                <a:latin typeface="Inter"/>
              </a:rPr>
              <a:t>measured on complaint-handling SLA and on losses recovered, and a platform's</a:t>
            </a:r>
            <a:r>
              <a:rPr sz="1300" b="1">
                <a:solidFill>
                  <a:srgbClr val="F2603F"/>
                </a:solidFill>
                <a:latin typeface="Inter"/>
              </a:rPr>
              <a:t>•  </a:t>
            </a:r>
          </a:p>
          <a:p>
            <a:pPr>
              <a:lnSpc>
                <a:spcPct val="115000"/>
              </a:lnSpc>
              <a:spcAft>
                <a:spcPts val="700"/>
              </a:spcAft>
            </a:pPr>
            <a:r>
              <a:rPr sz="1300" b="1">
                <a:solidFill>
                  <a:srgbClr val="2C2540"/>
                </a:solidFill>
                <a:latin typeface="Inter"/>
              </a:rPr>
              <a:t>trust &amp; safety team is measured on response time and on evidence when a</a:t>
            </a:r>
            <a:r>
              <a:rPr sz="1300" b="1">
                <a:solidFill>
                  <a:srgbClr val="F2603F"/>
                </a:solidFill>
                <a:latin typeface="Inter"/>
              </a:rPr>
              <a:t>•  </a:t>
            </a:r>
          </a:p>
          <a:p>
            <a:pPr>
              <a:lnSpc>
                <a:spcPct val="115000"/>
              </a:lnSpc>
              <a:spcAft>
                <a:spcPts val="700"/>
              </a:spcAft>
            </a:pPr>
            <a:r>
              <a:rPr sz="1300" b="1">
                <a:solidFill>
                  <a:srgbClr val="2C2540"/>
                </a:solidFill>
                <a:latin typeface="Inter"/>
              </a:rPr>
              <a:t>regulator asks. ReclaimYourNet gives both an auditable, automated, jurisdiction-aware</a:t>
            </a:r>
            <a:r>
              <a:rPr sz="1300" b="1">
                <a:solidFill>
                  <a:srgbClr val="F2603F"/>
                </a:solidFill>
                <a:latin typeface="Inter"/>
              </a:rPr>
              <a:t>•  </a:t>
            </a:r>
          </a:p>
          <a:p>
            <a:pPr>
              <a:lnSpc>
                <a:spcPct val="115000"/>
              </a:lnSpc>
              <a:spcAft>
                <a:spcPts val="700"/>
              </a:spcAft>
            </a:pPr>
            <a:r>
              <a:rPr sz="1300" b="1">
                <a:solidFill>
                  <a:srgbClr val="2C2540"/>
                </a:solidFill>
                <a:latin typeface="Inter"/>
              </a:rPr>
              <a:t>routing layer and the proof that it ran.</a:t>
            </a:r>
            <a:r>
              <a:rPr sz="1300" b="1">
                <a:solidFill>
                  <a:srgbClr val="F2603F"/>
                </a:solidFill>
                <a:latin typeface="Inter"/>
              </a:rPr>
              <a:t>•  </a:t>
            </a:r>
          </a:p>
          <a:p>
            <a:pPr>
              <a:lnSpc>
                <a:spcPct val="115000"/>
              </a:lnSpc>
              <a:spcAft>
                <a:spcPts val="700"/>
              </a:spcAft>
            </a:pPr>
            <a:r>
              <a:rPr sz="1300" b="1">
                <a:solidFill>
                  <a:srgbClr val="2C2540"/>
                </a:solidFill>
                <a:latin typeface="Inter"/>
              </a:rPr>
              <a:t>**Market:** cyber-fraud and identity fraud are among the fastest-growing cost</a:t>
            </a:r>
            <a:r>
              <a:rPr sz="1300" b="1">
                <a:solidFill>
                  <a:srgbClr val="F2603F"/>
                </a:solidFill>
                <a:latin typeface="Inter"/>
              </a:rPr>
              <a:t>•  </a:t>
            </a:r>
          </a:p>
          <a:p>
            <a:pPr>
              <a:lnSpc>
                <a:spcPct val="115000"/>
              </a:lnSpc>
              <a:spcAft>
                <a:spcPts val="700"/>
              </a:spcAft>
            </a:pPr>
            <a:r>
              <a:rPr sz="1300" b="1">
                <a:solidFill>
                  <a:srgbClr val="2C2540"/>
                </a:solidFill>
                <a:latin typeface="Inter"/>
              </a:rPr>
              <a:t>lines for banks; content moderation and NCII takedown are a permanent</a:t>
            </a:r>
            <a:r>
              <a:rPr sz="1300" b="1">
                <a:solidFill>
                  <a:srgbClr val="F2603F"/>
                </a:solidFill>
                <a:latin typeface="Inter"/>
              </a:rPr>
              <a:t>•  </a:t>
            </a:r>
          </a:p>
          <a:p>
            <a:pPr>
              <a:lnSpc>
                <a:spcPct val="115000"/>
              </a:lnSpc>
              <a:spcAft>
                <a:spcPts val="700"/>
              </a:spcAft>
            </a:pPr>
            <a:r>
              <a:rPr sz="1300" b="1">
                <a:solidFill>
                  <a:srgbClr val="2C2540"/>
                </a:solidFill>
                <a:latin typeface="Inter"/>
              </a:rPr>
              <a:t>regulatory obligation for every platform. Both are budgeted, recurring,</a:t>
            </a:r>
            <a:r>
              <a:rPr sz="1300" b="1">
                <a:solidFill>
                  <a:srgbClr val="F2603F"/>
                </a:solidFill>
                <a:latin typeface="Inter"/>
              </a:rPr>
              <a:t>•  </a:t>
            </a:r>
          </a:p>
          <a:p>
            <a:pPr>
              <a:lnSpc>
                <a:spcPct val="115000"/>
              </a:lnSpc>
              <a:spcAft>
                <a:spcPts val="700"/>
              </a:spcAft>
            </a:pPr>
            <a:r>
              <a:rPr sz="1300" b="1">
                <a:solidFill>
                  <a:srgbClr val="2C2540"/>
                </a:solidFill>
                <a:latin typeface="Inter"/>
              </a:rPr>
              <a:t>compliance-driven spend - not a discretionary "nice to have" tool.</a:t>
            </a:r>
            <a:r>
              <a:rPr sz="1300" b="1">
                <a:solidFill>
                  <a:srgbClr val="F2603F"/>
                </a:solidFill>
                <a:latin typeface="Inter"/>
              </a:rPr>
              <a: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Feasibility</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**It is already running.** https://reclaim-your-net.vercel.app - a full case,</a:t>
            </a:r>
            <a:r>
              <a:rPr sz="1300" b="1">
                <a:solidFill>
                  <a:srgbClr val="F2603F"/>
                </a:solidFill>
                <a:latin typeface="Inter"/>
              </a:rPr>
              <a:t>•  </a:t>
            </a:r>
          </a:p>
          <a:p>
            <a:pPr lvl="1">
              <a:lnSpc>
                <a:spcPct val="115000"/>
              </a:lnSpc>
              <a:spcAft>
                <a:spcPts val="300"/>
              </a:spcAft>
            </a:pPr>
            <a:r>
              <a:rPr sz="1150" b="0">
                <a:solidFill>
                  <a:srgbClr val="6E6689"/>
                </a:solidFill>
                <a:latin typeface="Inter"/>
              </a:rPr>
              <a:t>from one sentence to a reference number, in under four minutes.</a:t>
            </a:r>
            <a:r>
              <a:rPr sz="1150" b="0">
                <a:solidFill>
                  <a:srgbClr val="6E6689"/>
                </a:solidFill>
                <a:latin typeface="Inter"/>
              </a:rPr>
              <a:t>–  </a:t>
            </a:r>
          </a:p>
          <a:p>
            <a:pPr>
              <a:lnSpc>
                <a:spcPct val="115000"/>
              </a:lnSpc>
              <a:spcAft>
                <a:spcPts val="700"/>
              </a:spcAft>
            </a:pPr>
            <a:r>
              <a:rPr sz="1300" b="1">
                <a:solidFill>
                  <a:srgbClr val="2C2540"/>
                </a:solidFill>
                <a:latin typeface="Inter"/>
              </a:rPr>
              <a:t>**The hard part is built and verified against the live API:** Search resolves</a:t>
            </a:r>
            <a:r>
              <a:rPr sz="1300" b="1">
                <a:solidFill>
                  <a:srgbClr val="F2603F"/>
                </a:solidFill>
                <a:latin typeface="Inter"/>
              </a:rPr>
              <a:t>•  </a:t>
            </a:r>
          </a:p>
          <a:p>
            <a:pPr lvl="1">
              <a:lnSpc>
                <a:spcPct val="115000"/>
              </a:lnSpc>
              <a:spcAft>
                <a:spcPts val="300"/>
              </a:spcAft>
            </a:pPr>
            <a:r>
              <a:rPr sz="1150" b="0">
                <a:solidFill>
                  <a:srgbClr val="6E6689"/>
                </a:solidFill>
                <a:latin typeface="Inter"/>
              </a:rPr>
              <a:t>the real portals (`i4c.mha.gov.in/ncrp.aspx`, `rbi.org.in/Scripts/Complaints.aspx`,</a:t>
            </a:r>
            <a:r>
              <a:rPr sz="1150" b="0">
                <a:solidFill>
                  <a:srgbClr val="6E6689"/>
                </a:solidFill>
                <a:latin typeface="Inter"/>
              </a:rPr>
              <a:t>–  </a:t>
            </a:r>
          </a:p>
          <a:p>
            <a:pPr lvl="1">
              <a:lnSpc>
                <a:spcPct val="115000"/>
              </a:lnSpc>
              <a:spcAft>
                <a:spcPts val="300"/>
              </a:spcAft>
            </a:pPr>
            <a:r>
              <a:rPr sz="1150" b="0">
                <a:solidFill>
                  <a:srgbClr val="6E6689"/>
                </a:solidFill>
                <a:latin typeface="Inter"/>
              </a:rPr>
              <a:t>`cert-in.org.in/SecurityIncident.jsp`, and `gurgaon.haryanapolice.gov.in/cyber-crime`</a:t>
            </a:r>
            <a:r>
              <a:rPr sz="1150" b="0">
                <a:solidFill>
                  <a:srgbClr val="6E6689"/>
                </a:solidFill>
                <a:latin typeface="Inter"/>
              </a:rPr>
              <a:t>–  </a:t>
            </a:r>
          </a:p>
          <a:p>
            <a:pPr lvl="1">
              <a:lnSpc>
                <a:spcPct val="115000"/>
              </a:lnSpc>
              <a:spcAft>
                <a:spcPts val="300"/>
              </a:spcAft>
            </a:pPr>
            <a:r>
              <a:rPr sz="1150" b="0">
                <a:solidFill>
                  <a:srgbClr val="6E6689"/>
                </a:solidFill>
                <a:latin typeface="Inter"/>
              </a:rPr>
              <a:t>for Gurugram); the Agent read a live form and returned its real fields and</a:t>
            </a:r>
            <a:r>
              <a:rPr sz="1150" b="0">
                <a:solidFill>
                  <a:srgbClr val="6E6689"/>
                </a:solidFill>
                <a:latin typeface="Inter"/>
              </a:rPr>
              <a:t>–  </a:t>
            </a:r>
          </a:p>
          <a:p>
            <a:pPr lvl="1">
              <a:lnSpc>
                <a:spcPct val="115000"/>
              </a:lnSpc>
              <a:spcAft>
                <a:spcPts val="300"/>
              </a:spcAft>
            </a:pPr>
            <a:r>
              <a:rPr sz="1150" b="0">
                <a:solidFill>
                  <a:srgbClr val="6E6689"/>
                </a:solidFill>
                <a:latin typeface="Inter"/>
              </a:rPr>
              <a:t>dropdown options; the Agent typed, submitted and returned a reference number.</a:t>
            </a:r>
            <a:r>
              <a:rPr sz="1150" b="0">
                <a:solidFill>
                  <a:srgbClr val="6E6689"/>
                </a:solidFill>
                <a:latin typeface="Inter"/>
              </a:rPr>
              <a:t>–  </a:t>
            </a:r>
          </a:p>
          <a:p>
            <a:pPr>
              <a:lnSpc>
                <a:spcPct val="115000"/>
              </a:lnSpc>
              <a:spcAft>
                <a:spcPts val="700"/>
              </a:spcAft>
            </a:pPr>
            <a:r>
              <a:rPr sz="1300" b="1">
                <a:solidFill>
                  <a:srgbClr val="2C2540"/>
                </a:solidFill>
                <a:latin typeface="Inter"/>
              </a:rPr>
              <a:t>**Zero-dependency core.** The classifier, taxonomy, planner and redaction are</a:t>
            </a:r>
            <a:r>
              <a:rPr sz="1300" b="1">
                <a:solidFill>
                  <a:srgbClr val="F2603F"/>
                </a:solidFill>
                <a:latin typeface="Inter"/>
              </a:rPr>
              <a:t>•  </a:t>
            </a:r>
          </a:p>
          <a:p>
            <a:pPr lvl="1">
              <a:lnSpc>
                <a:spcPct val="115000"/>
              </a:lnSpc>
              <a:spcAft>
                <a:spcPts val="300"/>
              </a:spcAft>
            </a:pPr>
            <a:r>
              <a:rPr sz="1150" b="0">
                <a:solidFill>
                  <a:srgbClr val="6E6689"/>
                </a:solidFill>
                <a:latin typeface="Inter"/>
              </a:rPr>
              <a:t>pure TypeScript with no runtime dependencies, 11 passing unit tests and a</a:t>
            </a:r>
            <a:r>
              <a:rPr sz="1150" b="0">
                <a:solidFill>
                  <a:srgbClr val="6E6689"/>
                </a:solidFill>
                <a:latin typeface="Inter"/>
              </a:rPr>
              <a:t>–  </a:t>
            </a:r>
          </a:p>
          <a:p>
            <a:pPr lvl="1">
              <a:lnSpc>
                <a:spcPct val="115000"/>
              </a:lnSpc>
              <a:spcAft>
                <a:spcPts val="300"/>
              </a:spcAft>
            </a:pPr>
            <a:r>
              <a:rPr sz="1150" b="0">
                <a:solidFill>
                  <a:srgbClr val="6E6689"/>
                </a:solidFill>
                <a:latin typeface="Inter"/>
              </a:rPr>
              <a:t>reproducible 5-fold evaluation script. It runs in the browser, in the API and</a:t>
            </a:r>
            <a:r>
              <a:rPr sz="1150" b="0">
                <a:solidFill>
                  <a:srgbClr val="6E6689"/>
                </a:solidFill>
                <a:latin typeface="Inter"/>
              </a:rPr>
              <a:t>–  </a:t>
            </a:r>
          </a:p>
          <a:p>
            <a:pPr lvl="1">
              <a:lnSpc>
                <a:spcPct val="115000"/>
              </a:lnSpc>
              <a:spcAft>
                <a:spcPts val="300"/>
              </a:spcAft>
            </a:pPr>
            <a:r>
              <a:rPr sz="1150" b="0">
                <a:solidFill>
                  <a:srgbClr val="6E6689"/>
                </a:solidFill>
                <a:latin typeface="Inter"/>
              </a:rPr>
              <a:t>in CI.</a:t>
            </a:r>
            <a:r>
              <a:rPr sz="1150" b="0">
                <a:solidFill>
                  <a:srgbClr val="6E6689"/>
                </a:solidFill>
                <a:latin typeface="Inter"/>
              </a:rPr>
              <a:t>–  </a:t>
            </a:r>
          </a:p>
          <a:p>
            <a:pPr>
              <a:lnSpc>
                <a:spcPct val="115000"/>
              </a:lnSpc>
              <a:spcAft>
                <a:spcPts val="700"/>
              </a:spcAft>
            </a:pPr>
            <a:r>
              <a:rPr sz="1300" b="1">
                <a:solidFill>
                  <a:srgbClr val="2C2540"/>
                </a:solidFill>
                <a:latin typeface="Inter"/>
              </a:rPr>
              <a:t>**Cost per user is bounded and tiny** (see slide 10). The expensive part is</a:t>
            </a:r>
            <a:r>
              <a:rPr sz="1300" b="1">
                <a:solidFill>
                  <a:srgbClr val="F2603F"/>
                </a:solidFill>
                <a:latin typeface="Inter"/>
              </a:rPr>
              <a:t>•  </a:t>
            </a:r>
          </a:p>
          <a:p>
            <a:pPr lvl="1">
              <a:lnSpc>
                <a:spcPct val="115000"/>
              </a:lnSpc>
              <a:spcAft>
                <a:spcPts val="300"/>
              </a:spcAft>
            </a:pPr>
            <a:r>
              <a:rPr sz="1150" b="0">
                <a:solidFill>
                  <a:srgbClr val="6E6689"/>
                </a:solidFill>
                <a:latin typeface="Inter"/>
              </a:rPr>
              <a:t>the one-time form read per channel, and it is cached.</a:t>
            </a:r>
            <a:r>
              <a:rPr sz="1150" b="0">
                <a:solidFill>
                  <a:srgbClr val="6E6689"/>
                </a:solidFill>
                <a:latin typeface="Inter"/>
              </a:rPr>
              <a:t>–  </a:t>
            </a:r>
          </a:p>
          <a:p>
            <a:pPr>
              <a:lnSpc>
                <a:spcPct val="115000"/>
              </a:lnSpc>
              <a:spcAft>
                <a:spcPts val="700"/>
              </a:spcAft>
            </a:pPr>
            <a:r>
              <a:rPr sz="1300" b="1">
                <a:solidFill>
                  <a:srgbClr val="2C2540"/>
                </a:solidFill>
                <a:latin typeface="Inter"/>
              </a:rPr>
              <a:t>**Degradation is designed in.** If a portal blocks the agent, the channel is</a:t>
            </a:r>
            <a:r>
              <a:rPr sz="1300" b="1">
                <a:solidFill>
                  <a:srgbClr val="F2603F"/>
                </a:solidFill>
                <a:latin typeface="Inter"/>
              </a:rPr>
              <a:t>•  </a:t>
            </a:r>
          </a:p>
          <a:p>
            <a:pPr lvl="1">
              <a:lnSpc>
                <a:spcPct val="115000"/>
              </a:lnSpc>
              <a:spcAft>
                <a:spcPts val="300"/>
              </a:spcAft>
            </a:pPr>
            <a:r>
              <a:rPr sz="1150" b="0">
                <a:solidFill>
                  <a:srgbClr val="6E6689"/>
                </a:solidFill>
                <a:latin typeface="Inter"/>
              </a:rPr>
              <a:t>marked "manual" and the case continues. If the wallet runs low, search and</a:t>
            </a:r>
            <a:r>
              <a:rPr sz="1150" b="0">
                <a:solidFill>
                  <a:srgbClr val="6E6689"/>
                </a:solidFill>
                <a:latin typeface="Inter"/>
              </a:rPr>
              <a:t>–  </a:t>
            </a:r>
          </a:p>
          <a:p>
            <a:pPr lvl="1">
              <a:lnSpc>
                <a:spcPct val="115000"/>
              </a:lnSpc>
              <a:spcAft>
                <a:spcPts val="300"/>
              </a:spcAft>
            </a:pPr>
            <a:r>
              <a:rPr sz="1150" b="0">
                <a:solidFill>
                  <a:srgbClr val="6E6689"/>
                </a:solidFill>
                <a:latin typeface="Inter"/>
              </a:rPr>
              <a:t>fetch still work. If the network is down, triage still works.</a:t>
            </a:r>
            <a:r>
              <a:rPr sz="1150" b="0">
                <a:solidFill>
                  <a:srgbClr val="6E6689"/>
                </a:solidFill>
                <a:latin typeface="Inter"/>
              </a:rPr>
              <a:t>–  </a:t>
            </a:r>
          </a:p>
          <a:p>
            <a:pPr>
              <a:lnSpc>
                <a:spcPct val="115000"/>
              </a:lnSpc>
              <a:spcAft>
                <a:spcPts val="700"/>
              </a:spcAft>
            </a:pPr>
            <a:r>
              <a:rPr sz="1300" b="1">
                <a:solidFill>
                  <a:srgbClr val="2C2540"/>
                </a:solidFill>
                <a:latin typeface="Inter"/>
              </a:rPr>
              <a:t>**Nothing to scale.** The app is stateless: the case lives in the browser,</a:t>
            </a:r>
            <a:r>
              <a:rPr sz="1300" b="1">
                <a:solidFill>
                  <a:srgbClr val="F2603F"/>
                </a:solidFill>
                <a:latin typeface="Inter"/>
              </a:rPr>
              <a:t>•  </a:t>
            </a:r>
          </a:p>
          <a:p>
            <a:pPr lvl="1">
              <a:lnSpc>
                <a:spcPct val="115000"/>
              </a:lnSpc>
              <a:spcAft>
                <a:spcPts val="300"/>
              </a:spcAft>
            </a:pPr>
            <a:r>
              <a:rPr sz="1150" b="0">
                <a:solidFill>
                  <a:srgbClr val="6E6689"/>
                </a:solidFill>
                <a:latin typeface="Inter"/>
              </a:rPr>
              <a:t>so the API is a pure function of the request.</a:t>
            </a:r>
            <a:r>
              <a:rPr sz="1150" b="0">
                <a:solidFill>
                  <a:srgbClr val="6E6689"/>
                </a:solidFill>
                <a:latin typeface="Inter"/>
              </a:rPr>
              <a:t>–  </a:t>
            </a:r>
          </a:p>
          <a:p>
            <a:pPr>
              <a:lnSpc>
                <a:spcPct val="115000"/>
              </a:lnSpc>
              <a:spcAft>
                <a:spcPts val="700"/>
              </a:spcAft>
            </a:pPr>
            <a:r>
              <a:rPr sz="1300" b="1">
                <a:solidFill>
                  <a:srgbClr val="2C2540"/>
                </a:solidFill>
                <a:latin typeface="Inter"/>
              </a:rPr>
              <a:t>**Legal and ethical posture.** The agent never invents a value, never submits</a:t>
            </a:r>
            <a:r>
              <a:rPr sz="1300" b="1">
                <a:solidFill>
                  <a:srgbClr val="F2603F"/>
                </a:solidFill>
                <a:latin typeface="Inter"/>
              </a:rPr>
              <a:t>•  </a:t>
            </a:r>
          </a:p>
          <a:p>
            <a:pPr lvl="1">
              <a:lnSpc>
                <a:spcPct val="115000"/>
              </a:lnSpc>
              <a:spcAft>
                <a:spcPts val="300"/>
              </a:spcAft>
            </a:pPr>
            <a:r>
              <a:rPr sz="1150" b="0">
                <a:solidFill>
                  <a:srgbClr val="6E6689"/>
                </a:solidFill>
                <a:latin typeface="Inter"/>
              </a:rPr>
              <a:t>without a second explicit human approval, never guesses a required field, and</a:t>
            </a:r>
            <a:r>
              <a:rPr sz="1150" b="0">
                <a:solidFill>
                  <a:srgbClr val="6E6689"/>
                </a:solidFill>
                <a:latin typeface="Inter"/>
              </a:rPr>
              <a:t>–  </a:t>
            </a:r>
          </a:p>
          <a:p>
            <a:pPr lvl="1">
              <a:lnSpc>
                <a:spcPct val="115000"/>
              </a:lnSpc>
              <a:spcAft>
                <a:spcPts val="300"/>
              </a:spcAft>
            </a:pPr>
            <a:r>
              <a:rPr sz="1150" b="0">
                <a:solidFill>
                  <a:srgbClr val="6E6689"/>
                </a:solidFill>
                <a:latin typeface="Inter"/>
              </a:rPr>
              <a:t>masks personal data by default. A tamper-evident log of exactly what was</a:t>
            </a:r>
            <a:r>
              <a:rPr sz="1150" b="0">
                <a:solidFill>
                  <a:srgbClr val="6E6689"/>
                </a:solidFill>
                <a:latin typeface="Inter"/>
              </a:rPr>
              <a:t>–  </a:t>
            </a:r>
          </a:p>
          <a:p>
            <a:pPr lvl="1">
              <a:lnSpc>
                <a:spcPct val="115000"/>
              </a:lnSpc>
              <a:spcAft>
                <a:spcPts val="300"/>
              </a:spcAft>
            </a:pPr>
            <a:r>
              <a:rPr sz="1150" b="0">
                <a:solidFill>
                  <a:srgbClr val="6E6689"/>
                </a:solidFill>
                <a:latin typeface="Inter"/>
              </a:rPr>
              <a:t>filed, where, when and with which reference number is a feature for the</a:t>
            </a:r>
            <a:r>
              <a:rPr sz="1150" b="0">
                <a:solidFill>
                  <a:srgbClr val="6E6689"/>
                </a:solidFill>
                <a:latin typeface="Inter"/>
              </a:rPr>
              <a:t>–  </a:t>
            </a:r>
          </a:p>
          <a:p>
            <a:pPr lvl="1">
              <a:lnSpc>
                <a:spcPct val="115000"/>
              </a:lnSpc>
              <a:spcAft>
                <a:spcPts val="300"/>
              </a:spcAft>
            </a:pPr>
            <a:r>
              <a:rPr sz="1150" b="0">
                <a:solidFill>
                  <a:srgbClr val="6E6689"/>
                </a:solidFill>
                <a:latin typeface="Inter"/>
              </a:rPr>
              <a:t>victim and for the platform.</a:t>
            </a:r>
            <a:r>
              <a:rPr sz="1150" b="0">
                <a:solidFill>
                  <a:srgbClr val="6E6689"/>
                </a:solidFill>
                <a:latin typeface="Inter"/>
              </a:rPr>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Future scope</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1. **Voice-first intake** with the Web Speech API (already wired in the UI) and</a:t>
            </a:r>
            <a:r>
              <a:rPr sz="1300" b="1">
                <a:solidFill>
                  <a:srgbClr val="F2603F"/>
                </a:solidFill>
                <a:latin typeface="Inter"/>
              </a:rPr>
              <a:t>•  </a:t>
            </a:r>
          </a:p>
          <a:p>
            <a:pPr lvl="1">
              <a:lnSpc>
                <a:spcPct val="115000"/>
              </a:lnSpc>
              <a:spcAft>
                <a:spcPts val="300"/>
              </a:spcAft>
            </a:pPr>
            <a:r>
              <a:rPr sz="1150" b="0">
                <a:solidFill>
                  <a:srgbClr val="6E6689"/>
                </a:solidFill>
                <a:latin typeface="Inter"/>
              </a:rPr>
              <a:t>regional-language input.</a:t>
            </a:r>
            <a:r>
              <a:rPr sz="1150" b="0">
                <a:solidFill>
                  <a:srgbClr val="6E6689"/>
                </a:solidFill>
                <a:latin typeface="Inter"/>
              </a:rPr>
              <a:t>–  </a:t>
            </a:r>
          </a:p>
          <a:p>
            <a:pPr>
              <a:lnSpc>
                <a:spcPct val="115000"/>
              </a:lnSpc>
              <a:spcAft>
                <a:spcPts val="700"/>
              </a:spcAft>
            </a:pPr>
            <a:r>
              <a:rPr sz="1300" b="1">
                <a:solidFill>
                  <a:srgbClr val="2C2540"/>
                </a:solidFill>
                <a:latin typeface="Inter"/>
              </a:rPr>
              <a:t>2. **Authenticated filing.** A Browser Context Profile plus TinyFish Vault so</a:t>
            </a:r>
            <a:r>
              <a:rPr sz="1300" b="1">
                <a:solidFill>
                  <a:srgbClr val="F2603F"/>
                </a:solidFill>
                <a:latin typeface="Inter"/>
              </a:rPr>
              <a:t>•  </a:t>
            </a:r>
          </a:p>
          <a:p>
            <a:pPr lvl="1">
              <a:lnSpc>
                <a:spcPct val="115000"/>
              </a:lnSpc>
              <a:spcAft>
                <a:spcPts val="300"/>
              </a:spcAft>
            </a:pPr>
            <a:r>
              <a:rPr sz="1150" b="0">
                <a:solidFill>
                  <a:srgbClr val="6E6689"/>
                </a:solidFill>
                <a:latin typeface="Inter"/>
              </a:rPr>
              <a:t>the agent can file on logged-in platforms (Instagram, X, WhatsApp) as you,</a:t>
            </a:r>
            <a:r>
              <a:rPr sz="1150" b="0">
                <a:solidFill>
                  <a:srgbClr val="6E6689"/>
                </a:solidFill>
                <a:latin typeface="Inter"/>
              </a:rPr>
              <a:t>–  </a:t>
            </a:r>
          </a:p>
          <a:p>
            <a:pPr lvl="1">
              <a:lnSpc>
                <a:spcPct val="115000"/>
              </a:lnSpc>
              <a:spcAft>
                <a:spcPts val="300"/>
              </a:spcAft>
            </a:pPr>
            <a:r>
              <a:rPr sz="1150" b="0">
                <a:solidFill>
                  <a:srgbClr val="6E6689"/>
                </a:solidFill>
                <a:latin typeface="Inter"/>
              </a:rPr>
              <a:t>with your session, without you retyping anything.</a:t>
            </a:r>
            <a:r>
              <a:rPr sz="1150" b="0">
                <a:solidFill>
                  <a:srgbClr val="6E6689"/>
                </a:solidFill>
                <a:latin typeface="Inter"/>
              </a:rPr>
              <a:t>–  </a:t>
            </a:r>
          </a:p>
          <a:p>
            <a:pPr>
              <a:lnSpc>
                <a:spcPct val="115000"/>
              </a:lnSpc>
              <a:spcAft>
                <a:spcPts val="700"/>
              </a:spcAft>
            </a:pPr>
            <a:r>
              <a:rPr sz="1300" b="1">
                <a:solidFill>
                  <a:srgbClr val="2C2540"/>
                </a:solidFill>
                <a:latin typeface="Inter"/>
              </a:rPr>
              <a:t>3. **Outcome tracking as a product.** The Monitor graph becomes a dashboard:</a:t>
            </a:r>
            <a:r>
              <a:rPr sz="1300" b="1">
                <a:solidFill>
                  <a:srgbClr val="F2603F"/>
                </a:solidFill>
                <a:latin typeface="Inter"/>
              </a:rPr>
              <a:t>•  </a:t>
            </a:r>
          </a:p>
          <a:p>
            <a:pPr lvl="1">
              <a:lnSpc>
                <a:spcPct val="115000"/>
              </a:lnSpc>
              <a:spcAft>
                <a:spcPts val="300"/>
              </a:spcAft>
            </a:pPr>
            <a:r>
              <a:rPr sz="1150" b="0">
                <a:solidFill>
                  <a:srgbClr val="6E6689"/>
                </a:solidFill>
                <a:latin typeface="Inter"/>
              </a:rPr>
              <a:t>"of the 312 reports filed in July, 61% of content was removed within 7 days,</a:t>
            </a:r>
            <a:r>
              <a:rPr sz="1150" b="0">
                <a:solidFill>
                  <a:srgbClr val="6E6689"/>
                </a:solidFill>
                <a:latin typeface="Inter"/>
              </a:rPr>
              <a:t>–  </a:t>
            </a:r>
          </a:p>
          <a:p>
            <a:pPr lvl="1">
              <a:lnSpc>
                <a:spcPct val="115000"/>
              </a:lnSpc>
              <a:spcAft>
                <a:spcPts val="300"/>
              </a:spcAft>
            </a:pPr>
            <a:r>
              <a:rPr sz="1150" b="0">
                <a:solidFill>
                  <a:srgbClr val="6E6689"/>
                </a:solidFill>
                <a:latin typeface="Inter"/>
              </a:rPr>
              <a:t>median 41 hours" - the evidence problem solved is also a market-size</a:t>
            </a:r>
            <a:r>
              <a:rPr sz="1150" b="0">
                <a:solidFill>
                  <a:srgbClr val="6E6689"/>
                </a:solidFill>
                <a:latin typeface="Inter"/>
              </a:rPr>
              <a:t>–  </a:t>
            </a:r>
          </a:p>
          <a:p>
            <a:pPr lvl="1">
              <a:lnSpc>
                <a:spcPct val="115000"/>
              </a:lnSpc>
              <a:spcAft>
                <a:spcPts val="300"/>
              </a:spcAft>
            </a:pPr>
            <a:r>
              <a:rPr sz="1150" b="0">
                <a:solidFill>
                  <a:srgbClr val="6E6689"/>
                </a:solidFill>
                <a:latin typeface="Inter"/>
              </a:rPr>
              <a:t>problem.</a:t>
            </a:r>
            <a:r>
              <a:rPr sz="1150" b="0">
                <a:solidFill>
                  <a:srgbClr val="6E6689"/>
                </a:solidFill>
                <a:latin typeface="Inter"/>
              </a:rPr>
              <a:t>–  </a:t>
            </a:r>
          </a:p>
          <a:p>
            <a:pPr>
              <a:lnSpc>
                <a:spcPct val="115000"/>
              </a:lnSpc>
              <a:spcAft>
                <a:spcPts val="700"/>
              </a:spcAft>
            </a:pPr>
            <a:r>
              <a:rPr sz="1300" b="1">
                <a:solidFill>
                  <a:srgbClr val="2C2540"/>
                </a:solidFill>
                <a:latin typeface="Inter"/>
              </a:rPr>
              <a:t>4. **The ReclaimYourNet API in production**: webhooks, SLA breach alerts, regulator</a:t>
            </a:r>
            <a:r>
              <a:rPr sz="1300" b="1">
                <a:solidFill>
                  <a:srgbClr val="F2603F"/>
                </a:solidFill>
                <a:latin typeface="Inter"/>
              </a:rPr>
              <a:t>•  </a:t>
            </a:r>
          </a:p>
          <a:p>
            <a:pPr lvl="1">
              <a:lnSpc>
                <a:spcPct val="115000"/>
              </a:lnSpc>
              <a:spcAft>
                <a:spcPts val="300"/>
              </a:spcAft>
            </a:pPr>
            <a:r>
              <a:rPr sz="1150" b="0">
                <a:solidFill>
                  <a:srgbClr val="6E6689"/>
                </a:solidFill>
                <a:latin typeface="Inter"/>
              </a:rPr>
              <a:t>export formats (India's cybercrime portal, RBI ombudsman, FTC, IC3).</a:t>
            </a:r>
            <a:r>
              <a:rPr sz="1150" b="0">
                <a:solidFill>
                  <a:srgbClr val="6E6689"/>
                </a:solidFill>
                <a:latin typeface="Inter"/>
              </a:rPr>
              <a:t>–  </a:t>
            </a:r>
          </a:p>
          <a:p>
            <a:pPr>
              <a:lnSpc>
                <a:spcPct val="115000"/>
              </a:lnSpc>
              <a:spcAft>
                <a:spcPts val="700"/>
              </a:spcAft>
            </a:pPr>
            <a:r>
              <a:rPr sz="1300" b="1">
                <a:solidFill>
                  <a:srgbClr val="2C2540"/>
                </a:solidFill>
                <a:latin typeface="Inter"/>
              </a:rPr>
              <a:t>5. **Community and NGO workspaces** with trained case workers.</a:t>
            </a:r>
            <a:r>
              <a:rPr sz="1300" b="1">
                <a:solidFill>
                  <a:srgbClr val="F2603F"/>
                </a:solidFill>
                <a:latin typeface="Inter"/>
              </a:rPr>
              <a:t>•  </a:t>
            </a:r>
          </a:p>
          <a:p>
            <a:pPr>
              <a:lnSpc>
                <a:spcPct val="115000"/>
              </a:lnSpc>
              <a:spcAft>
                <a:spcPts val="700"/>
              </a:spcAft>
            </a:pPr>
            <a:r>
              <a:rPr sz="1300" b="1">
                <a:solidFill>
                  <a:srgbClr val="2C2540"/>
                </a:solidFill>
                <a:latin typeface="Inter"/>
              </a:rPr>
              <a:t>6. **Pre-emptive arming as a first-class action**: upload your photo *once* to</a:t>
            </a:r>
            <a:r>
              <a:rPr sz="1300" b="1">
                <a:solidFill>
                  <a:srgbClr val="F2603F"/>
                </a:solidFill>
                <a:latin typeface="Inter"/>
              </a:rPr>
              <a:t>•  </a:t>
            </a:r>
          </a:p>
          <a:p>
            <a:pPr lvl="1">
              <a:lnSpc>
                <a:spcPct val="115000"/>
              </a:lnSpc>
              <a:spcAft>
                <a:spcPts val="300"/>
              </a:spcAft>
            </a:pPr>
            <a:r>
              <a:rPr sz="1150" b="0">
                <a:solidFill>
                  <a:srgbClr val="6E6689"/>
                </a:solidFill>
                <a:latin typeface="Inter"/>
              </a:rPr>
              <a:t>the protection services before anything happens - the cheapest possible</a:t>
            </a:r>
            <a:r>
              <a:rPr sz="1150" b="0">
                <a:solidFill>
                  <a:srgbClr val="6E6689"/>
                </a:solidFill>
                <a:latin typeface="Inter"/>
              </a:rPr>
              <a:t>–  </a:t>
            </a:r>
          </a:p>
          <a:p>
            <a:pPr lvl="1">
              <a:lnSpc>
                <a:spcPct val="115000"/>
              </a:lnSpc>
              <a:spcAft>
                <a:spcPts val="300"/>
              </a:spcAft>
            </a:pPr>
            <a:r>
              <a:rPr sz="1150" b="0">
                <a:solidFill>
                  <a:srgbClr val="6E6689"/>
                </a:solidFill>
                <a:latin typeface="Inter"/>
              </a:rPr>
              <a:t>defence against AI-morphed content.</a:t>
            </a:r>
            <a:r>
              <a:rPr sz="1150" b="0">
                <a:solidFill>
                  <a:srgbClr val="6E6689"/>
                </a:solidFill>
                <a:latin typeface="Inter"/>
              </a:rPr>
              <a:t>–  </a:t>
            </a:r>
          </a:p>
          <a:p>
            <a:pPr>
              <a:lnSpc>
                <a:spcPct val="115000"/>
              </a:lnSpc>
              <a:spcAft>
                <a:spcPts val="700"/>
              </a:spcAft>
            </a:pPr>
            <a:r>
              <a:rPr sz="1300" b="1">
                <a:solidFill>
                  <a:srgbClr val="2C2540"/>
                </a:solidFill>
                <a:latin typeface="Inter"/>
              </a:rPr>
              <a:t>7. **Multilingual narratives** - a complaint written in Hindi or Tamil is</a:t>
            </a:r>
            <a:r>
              <a:rPr sz="1300" b="1">
                <a:solidFill>
                  <a:srgbClr val="F2603F"/>
                </a:solidFill>
                <a:latin typeface="Inter"/>
              </a:rPr>
              <a:t>•  </a:t>
            </a:r>
          </a:p>
          <a:p>
            <a:pPr lvl="1">
              <a:lnSpc>
                <a:spcPct val="115000"/>
              </a:lnSpc>
              <a:spcAft>
                <a:spcPts val="300"/>
              </a:spcAft>
            </a:pPr>
            <a:r>
              <a:rPr sz="1150" b="0">
                <a:solidFill>
                  <a:srgbClr val="6E6689"/>
                </a:solidFill>
                <a:latin typeface="Inter"/>
              </a:rPr>
              <a:t>routinely ignored; a translated, jurisdiction-appropriate narrative is not.</a:t>
            </a:r>
            <a:r>
              <a:rPr sz="1150" b="0">
                <a:solidFill>
                  <a:srgbClr val="6E6689"/>
                </a:solidFill>
                <a:latin typeface="Inter"/>
              </a:rPr>
              <a:t>–  </a:t>
            </a:r>
          </a:p>
          <a:p>
            <a:pPr>
              <a:lnSpc>
                <a:spcPct val="115000"/>
              </a:lnSpc>
              <a:spcAft>
                <a:spcPts val="700"/>
              </a:spcAft>
            </a:pPr>
            <a:r>
              <a:rPr sz="1300" b="1">
                <a:solidFill>
                  <a:srgbClr val="2C2540"/>
                </a:solidFill>
                <a:latin typeface="Inter"/>
              </a:rPr>
              <a:t>8. **A public channel graph.** Every ReclaimYourNet user benefits from every other</a:t>
            </a:r>
            <a:r>
              <a:rPr sz="1300" b="1">
                <a:solidFill>
                  <a:srgbClr val="F2603F"/>
                </a:solidFill>
                <a:latin typeface="Inter"/>
              </a:rPr>
              <a:t>•  </a:t>
            </a:r>
          </a:p>
          <a:p>
            <a:pPr lvl="1">
              <a:lnSpc>
                <a:spcPct val="115000"/>
              </a:lnSpc>
              <a:spcAft>
                <a:spcPts val="300"/>
              </a:spcAft>
            </a:pPr>
            <a:r>
              <a:rPr sz="1150" b="0">
                <a:solidFill>
                  <a:srgbClr val="6E6689"/>
                </a:solidFill>
                <a:latin typeface="Inter"/>
              </a:rPr>
              <a:t>user's live discovery, so the resolution of "where do I report this" gets</a:t>
            </a:r>
            <a:r>
              <a:rPr sz="1150" b="0">
                <a:solidFill>
                  <a:srgbClr val="6E6689"/>
                </a:solidFill>
                <a:latin typeface="Inter"/>
              </a:rPr>
              <a:t>–  </a:t>
            </a:r>
          </a:p>
          <a:p>
            <a:pPr lvl="1">
              <a:lnSpc>
                <a:spcPct val="115000"/>
              </a:lnSpc>
              <a:spcAft>
                <a:spcPts val="300"/>
              </a:spcAft>
            </a:pPr>
            <a:r>
              <a:rPr sz="1150" b="0">
                <a:solidFill>
                  <a:srgbClr val="6E6689"/>
                </a:solidFill>
                <a:latin typeface="Inter"/>
              </a:rPr>
              <a:t>better with every case.</a:t>
            </a:r>
            <a:r>
              <a:rPr sz="1150" b="0">
                <a:solidFill>
                  <a:srgbClr val="6E6689"/>
                </a:solidFill>
                <a:latin typeface="Inter"/>
              </a:rPr>
              <a:t>–  </a:t>
            </a:r>
          </a:p>
          <a:p>
            <a:pPr>
              <a:lnSpc>
                <a:spcPct val="115000"/>
              </a:lnSpc>
              <a:spcAft>
                <a:spcPts val="700"/>
              </a:spcAft>
            </a:pPr>
            <a:r>
              <a:rPr sz="1300" b="1">
                <a:solidFill>
                  <a:srgbClr val="2C2540"/>
                </a:solidFill>
                <a:latin typeface="Inter"/>
              </a:rPr>
              <a:t>9. **A wider city map.** Right now we know ~120 Indian cities and districts. The</a:t>
            </a:r>
            <a:r>
              <a:rPr sz="1300" b="1">
                <a:solidFill>
                  <a:srgbClr val="F2603F"/>
                </a:solidFill>
                <a:latin typeface="Inter"/>
              </a:rPr>
              <a:t>•  </a:t>
            </a:r>
          </a:p>
          <a:p>
            <a:pPr lvl="1">
              <a:lnSpc>
                <a:spcPct val="115000"/>
              </a:lnSpc>
              <a:spcAft>
                <a:spcPts val="300"/>
              </a:spcAft>
            </a:pPr>
            <a:r>
              <a:rPr sz="1150" b="0">
                <a:solidFill>
                  <a:srgbClr val="6E6689"/>
                </a:solidFill>
                <a:latin typeface="Inter"/>
              </a:rPr>
              <a:t>same mechanism extends to every state cyber cell, every district police</a:t>
            </a:r>
            <a:r>
              <a:rPr sz="1150" b="0">
                <a:solidFill>
                  <a:srgbClr val="6E6689"/>
                </a:solidFill>
                <a:latin typeface="Inter"/>
              </a:rPr>
              <a:t>–  </a:t>
            </a:r>
          </a:p>
          <a:p>
            <a:pPr lvl="1">
              <a:lnSpc>
                <a:spcPct val="115000"/>
              </a:lnSpc>
              <a:spcAft>
                <a:spcPts val="300"/>
              </a:spcAft>
            </a:pPr>
            <a:r>
              <a:rPr sz="1150" b="0">
                <a:solidFill>
                  <a:srgbClr val="6E6689"/>
                </a:solidFill>
                <a:latin typeface="Inter"/>
              </a:rPr>
              <a:t>website and every State Commission - and to other countries, where the</a:t>
            </a:r>
            <a:r>
              <a:rPr sz="1150" b="0">
                <a:solidFill>
                  <a:srgbClr val="6E6689"/>
                </a:solidFill>
                <a:latin typeface="Inter"/>
              </a:rPr>
              <a:t>–  </a:t>
            </a:r>
          </a:p>
          <a:p>
            <a:pPr lvl="1">
              <a:lnSpc>
                <a:spcPct val="115000"/>
              </a:lnSpc>
              <a:spcAft>
                <a:spcPts val="300"/>
              </a:spcAft>
            </a:pPr>
            <a:r>
              <a:rPr sz="1150" b="0">
                <a:solidFill>
                  <a:srgbClr val="6E6689"/>
                </a:solidFill>
                <a:latin typeface="Inter"/>
              </a:rPr>
              <a:t>equivalent body has a different name and a different form.</a:t>
            </a:r>
            <a:r>
              <a:rPr sz="1150" b="0">
                <a:solidFill>
                  <a:srgbClr val="6E6689"/>
                </a:solidFill>
                <a:latin typeface="Inter"/>
              </a:rPr>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What we would do with the prize</a:t>
            </a:r>
          </a:p>
        </p:txBody>
      </p:sp>
      <p:sp>
        <p:nvSpPr>
          <p:cNvPr id="5" name="TextBox 4"/>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500" b="1">
                <a:solidFill>
                  <a:srgbClr val="2C2540"/>
                </a:solidFill>
                <a:latin typeface="Inter"/>
              </a:rPr>
              <a:t>Ship the mobile-first consumer app with authenticated filing (Browser Context</a:t>
            </a:r>
            <a:r>
              <a:rPr sz="1500" b="1">
                <a:solidFill>
                  <a:srgbClr val="F2603F"/>
                </a:solidFill>
                <a:latin typeface="Inter"/>
              </a:rPr>
              <a:t>•  </a:t>
            </a:r>
          </a:p>
          <a:p>
            <a:pPr lvl="1">
              <a:lnSpc>
                <a:spcPct val="115000"/>
              </a:lnSpc>
              <a:spcAft>
                <a:spcPts val="300"/>
              </a:spcAft>
            </a:pPr>
            <a:r>
              <a:rPr sz="1350" b="0">
                <a:solidFill>
                  <a:srgbClr val="6E6689"/>
                </a:solidFill>
                <a:latin typeface="Inter"/>
              </a:rPr>
              <a:t>Profiles + Vault) - the highest-impact missing piece.</a:t>
            </a:r>
            <a:r>
              <a:rPr sz="1350" b="0">
                <a:solidFill>
                  <a:srgbClr val="6E6689"/>
                </a:solidFill>
                <a:latin typeface="Inter"/>
              </a:rPr>
              <a:t>–  </a:t>
            </a:r>
          </a:p>
          <a:p>
            <a:pPr>
              <a:lnSpc>
                <a:spcPct val="115000"/>
              </a:lnSpc>
              <a:spcAft>
                <a:spcPts val="700"/>
              </a:spcAft>
            </a:pPr>
            <a:r>
              <a:rPr sz="1500" b="1">
                <a:solidFill>
                  <a:srgbClr val="2C2540"/>
                </a:solidFill>
                <a:latin typeface="Inter"/>
              </a:rPr>
              <a:t>Open-source the channel graph and the evaluation harness so other</a:t>
            </a:r>
            <a:r>
              <a:rPr sz="1500" b="1">
                <a:solidFill>
                  <a:srgbClr val="F2603F"/>
                </a:solidFill>
                <a:latin typeface="Inter"/>
              </a:rPr>
              <a:t>•  </a:t>
            </a:r>
          </a:p>
          <a:p>
            <a:pPr lvl="1">
              <a:lnSpc>
                <a:spcPct val="115000"/>
              </a:lnSpc>
              <a:spcAft>
                <a:spcPts val="300"/>
              </a:spcAft>
            </a:pPr>
            <a:r>
              <a:rPr sz="1350" b="0">
                <a:solidFill>
                  <a:srgbClr val="6E6689"/>
                </a:solidFill>
                <a:latin typeface="Inter"/>
              </a:rPr>
              <a:t>victim-support organisations can run it in their own jurisdiction.</a:t>
            </a:r>
            <a:r>
              <a:rPr sz="1350" b="0">
                <a:solidFill>
                  <a:srgbClr val="6E6689"/>
                </a:solidFill>
                <a:latin typeface="Inter"/>
              </a:rPr>
              <a:t>–  </a:t>
            </a:r>
          </a:p>
          <a:p>
            <a:pPr>
              <a:lnSpc>
                <a:spcPct val="115000"/>
              </a:lnSpc>
              <a:spcAft>
                <a:spcPts val="700"/>
              </a:spcAft>
            </a:pPr>
            <a:r>
              <a:rPr sz="1500" b="1">
                <a:solidFill>
                  <a:srgbClr val="2C2540"/>
                </a:solidFill>
                <a:latin typeface="Inter"/>
              </a:rPr>
              <a:t>Work with two NGOs on a real, measured pilot: time-to-report, coverage</a:t>
            </a:r>
            <a:r>
              <a:rPr sz="1500" b="1">
                <a:solidFill>
                  <a:srgbClr val="F2603F"/>
                </a:solidFill>
                <a:latin typeface="Inter"/>
              </a:rPr>
              <a:t>•  </a:t>
            </a:r>
          </a:p>
          <a:p>
            <a:pPr lvl="1">
              <a:lnSpc>
                <a:spcPct val="115000"/>
              </a:lnSpc>
              <a:spcAft>
                <a:spcPts val="300"/>
              </a:spcAft>
            </a:pPr>
            <a:r>
              <a:rPr sz="1350" b="0">
                <a:solidFill>
                  <a:srgbClr val="6E6689"/>
                </a:solidFill>
                <a:latin typeface="Inter"/>
              </a:rPr>
              <a:t>completeness, and takedown outcomes.</a:t>
            </a:r>
            <a:r>
              <a:rPr sz="1350" b="0">
                <a:solidFill>
                  <a:srgbClr val="6E6689"/>
                </a:solidFill>
                <a:latin typeface="Inter"/>
              </a:rPr>
              <a:t>–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0584"/>
          </a:xfrm>
          <a:prstGeom prst="rect">
            <a:avLst/>
          </a:prstGeom>
          <a:solidFill>
            <a:srgbClr val="E9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Appendix A - Repository map</a:t>
            </a:r>
          </a:p>
        </p:txBody>
      </p:sp>
      <p:sp>
        <p:nvSpPr>
          <p:cNvPr id="6" name="TextBox 5"/>
          <p:cNvSpPr txBox="1"/>
          <p:nvPr/>
        </p:nvSpPr>
        <p:spPr>
          <a:xfrm>
            <a:off x="777240" y="1325880"/>
            <a:ext cx="10607040" cy="182880"/>
          </a:xfrm>
          <a:prstGeom prst="rect">
            <a:avLst/>
          </a:prstGeom>
          <a:noFill/>
        </p:spPr>
        <p:txBody>
          <a:bodyPr wrap="square">
            <a:spAutoFit/>
          </a:bodyPr>
          <a:lstStyle/>
          <a:p>
            <a:pPr>
              <a:lnSpc>
                <a:spcPct val="100000"/>
              </a:lnSpc>
              <a:spcAft>
                <a:spcPts val="0"/>
              </a:spcAft>
            </a:pPr>
            <a:r>
              <a:rPr sz="1150">
                <a:solidFill>
                  <a:srgbClr val="443C5E"/>
                </a:solidFill>
                <a:latin typeface="Consolas"/>
              </a:rPr>
              <a:t>packages/core/           triage engine: classifier, taxonomy, planner, redaction</a:t>
            </a:r>
          </a:p>
          <a:p>
            <a:pPr>
              <a:lnSpc>
                <a:spcPct val="100000"/>
              </a:lnSpc>
              <a:spcAft>
                <a:spcPts val="0"/>
              </a:spcAft>
            </a:pPr>
            <a:r>
              <a:rPr sz="1150">
                <a:solidFill>
                  <a:srgbClr val="443C5E"/>
                </a:solidFill>
                <a:latin typeface="Consolas"/>
              </a:rPr>
              <a:t>  src/ml/classifier.ts   one-vs-rest logistic regression (the ML)</a:t>
            </a:r>
          </a:p>
          <a:p>
            <a:pPr>
              <a:lnSpc>
                <a:spcPct val="100000"/>
              </a:lnSpc>
              <a:spcAft>
                <a:spcPts val="0"/>
              </a:spcAft>
            </a:pPr>
            <a:r>
              <a:rPr sz="1150">
                <a:solidFill>
                  <a:srgbClr val="443C5E"/>
                </a:solidFill>
                <a:latin typeface="Consolas"/>
              </a:rPr>
              <a:t>  src/ml/dataset.ts      223 hand-labelled multi-label examples</a:t>
            </a:r>
          </a:p>
          <a:p>
            <a:pPr>
              <a:lnSpc>
                <a:spcPct val="100000"/>
              </a:lnSpc>
              <a:spcAft>
                <a:spcPts val="0"/>
              </a:spcAft>
            </a:pPr>
            <a:r>
              <a:rPr sz="1150">
                <a:solidFill>
                  <a:srgbClr val="443C5E"/>
                </a:solidFill>
                <a:latin typeface="Consolas"/>
              </a:rPr>
              <a:t>  src/ml/redact.ts       privacy-by-default PII masking</a:t>
            </a:r>
          </a:p>
          <a:p>
            <a:pPr>
              <a:lnSpc>
                <a:spcPct val="100000"/>
              </a:lnSpc>
              <a:spcAft>
                <a:spcPts val="0"/>
              </a:spcAft>
            </a:pPr>
            <a:r>
              <a:rPr sz="1150">
                <a:solidFill>
                  <a:srgbClr val="443C5E"/>
                </a:solidFill>
                <a:latin typeface="Consolas"/>
              </a:rPr>
              <a:t>  src/planner.ts         labels -&gt; prioritised channels, deadlines, gaps</a:t>
            </a:r>
          </a:p>
          <a:p>
            <a:pPr>
              <a:lnSpc>
                <a:spcPct val="100000"/>
              </a:lnSpc>
              <a:spcAft>
                <a:spcPts val="0"/>
              </a:spcAft>
            </a:pPr>
            <a:r>
              <a:rPr sz="1150">
                <a:solidFill>
                  <a:srgbClr val="443C5E"/>
                </a:solidFill>
                <a:latin typeface="Consolas"/>
              </a:rPr>
              <a:t>  scripts/eval-classifier.ts   reproducible 5-fold evaluation</a:t>
            </a:r>
          </a:p>
          <a:p>
            <a:pPr>
              <a:lnSpc>
                <a:spcPct val="100000"/>
              </a:lnSpc>
              <a:spcAft>
                <a:spcPts val="0"/>
              </a:spcAft>
            </a:pPr>
            <a:r>
              <a:rPr sz="1150">
                <a:solidFill>
                  <a:srgbClr val="443C5E"/>
                </a:solidFill>
                <a:latin typeface="Consolas"/>
              </a:rPr>
              <a:t>apps/api/                Fastify API</a:t>
            </a:r>
          </a:p>
          <a:p>
            <a:pPr>
              <a:lnSpc>
                <a:spcPct val="100000"/>
              </a:lnSpc>
              <a:spcAft>
                <a:spcPts val="0"/>
              </a:spcAft>
            </a:pPr>
            <a:r>
              <a:rPr sz="1150">
                <a:solidFill>
                  <a:srgbClr val="443C5E"/>
                </a:solidFill>
                <a:latin typeface="Consolas"/>
              </a:rPr>
              <a:t>  src/tinyfish/client.ts Search / Fetch / Agent(SSE) / Monitor / Wallet</a:t>
            </a:r>
          </a:p>
          <a:p>
            <a:pPr>
              <a:lnSpc>
                <a:spcPct val="100000"/>
              </a:lnSpc>
              <a:spcAft>
                <a:spcPts val="0"/>
              </a:spcAft>
            </a:pPr>
            <a:r>
              <a:rPr sz="1150">
                <a:solidFill>
                  <a:srgbClr val="443C5E"/>
                </a:solidFill>
                <a:latin typeface="Consolas"/>
              </a:rPr>
              <a:t>  src/pipeline/orchestrator.ts discover -&gt; analyse -&gt; file -&gt; monitor</a:t>
            </a:r>
          </a:p>
          <a:p>
            <a:pPr>
              <a:lnSpc>
                <a:spcPct val="100000"/>
              </a:lnSpc>
              <a:spcAft>
                <a:spcPts val="0"/>
              </a:spcAft>
            </a:pPr>
            <a:r>
              <a:rPr sz="1150">
                <a:solidFill>
                  <a:srgbClr val="443C5E"/>
                </a:solidFill>
                <a:latin typeface="Consolas"/>
              </a:rPr>
              <a:t>  src/casereport/pdf.ts  the case file PDF</a:t>
            </a:r>
          </a:p>
          <a:p>
            <a:pPr>
              <a:lnSpc>
                <a:spcPct val="100000"/>
              </a:lnSpc>
              <a:spcAft>
                <a:spcPts val="0"/>
              </a:spcAft>
            </a:pPr>
            <a:r>
              <a:rPr sz="1150">
                <a:solidFill>
                  <a:srgbClr val="443C5E"/>
                </a:solidFill>
                <a:latin typeface="Consolas"/>
              </a:rPr>
              <a:t>  demo-portals/          sandbox clones of real forms</a:t>
            </a:r>
          </a:p>
          <a:p>
            <a:pPr>
              <a:lnSpc>
                <a:spcPct val="100000"/>
              </a:lnSpc>
              <a:spcAft>
                <a:spcPts val="0"/>
              </a:spcAft>
            </a:pPr>
            <a:r>
              <a:rPr sz="1150">
                <a:solidFill>
                  <a:srgbClr val="443C5E"/>
                </a:solidFill>
                <a:latin typeface="Consolas"/>
              </a:rPr>
              <a:t>apps/web/                React + Vite + Tailwind client</a:t>
            </a:r>
          </a:p>
          <a:p>
            <a:pPr>
              <a:lnSpc>
                <a:spcPct val="100000"/>
              </a:lnSpc>
              <a:spcAft>
                <a:spcPts val="0"/>
              </a:spcAft>
            </a:pPr>
            <a:r>
              <a:rPr sz="1150">
                <a:solidFill>
                  <a:srgbClr val="443C5E"/>
                </a:solidFill>
                <a:latin typeface="Consolas"/>
              </a:rPr>
              <a:t>docs/                    this deck, the plan, the dev.to post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0584"/>
          </a:xfrm>
          <a:prstGeom prst="rect">
            <a:avLst/>
          </a:prstGeom>
          <a:solidFill>
            <a:srgbClr val="E9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Appendix B - Submission checklist (Unstop form)</a:t>
            </a:r>
          </a:p>
        </p:txBody>
      </p:sp>
      <p:sp>
        <p:nvSpPr>
          <p:cNvPr id="6" name="TextBox 5"/>
          <p:cNvSpPr txBox="1"/>
          <p:nvPr/>
        </p:nvSpPr>
        <p:spPr>
          <a:xfrm>
            <a:off x="777240" y="1325880"/>
            <a:ext cx="10607040" cy="4983480"/>
          </a:xfrm>
          <a:prstGeom prst="rect">
            <a:avLst/>
          </a:prstGeom>
          <a:noFill/>
        </p:spPr>
        <p:txBody>
          <a:bodyPr wrap="square">
            <a:spAutoFit/>
          </a:bodyPr>
          <a:lstStyle/>
          <a:p>
            <a:pPr lvl="1">
              <a:lnSpc>
                <a:spcPct val="115000"/>
              </a:lnSpc>
              <a:spcAft>
                <a:spcPts val="300"/>
              </a:spcAft>
            </a:pPr>
            <a:r>
              <a:rPr sz="1150" b="0">
                <a:solidFill>
                  <a:srgbClr val="6E6689"/>
                </a:solidFill>
                <a:latin typeface="Inter"/>
              </a:rPr>
              <a:t>Required section   Slides</a:t>
            </a:r>
            <a:r>
              <a:rPr sz="1150" b="0">
                <a:solidFill>
                  <a:srgbClr val="6E6689"/>
                </a:solidFill>
                <a:latin typeface="Inter"/>
              </a:rPr>
              <a:t>–  </a:t>
            </a:r>
          </a:p>
          <a:p>
            <a:pPr lvl="1">
              <a:lnSpc>
                <a:spcPct val="115000"/>
              </a:lnSpc>
              <a:spcAft>
                <a:spcPts val="300"/>
              </a:spcAft>
            </a:pPr>
            <a:r>
              <a:rPr sz="1150" b="0">
                <a:solidFill>
                  <a:srgbClr val="6E6689"/>
                </a:solidFill>
                <a:latin typeface="Inter"/>
              </a:rPr>
              <a:t>Problem statement   2</a:t>
            </a:r>
            <a:r>
              <a:rPr sz="1150" b="0">
                <a:solidFill>
                  <a:srgbClr val="6E6689"/>
                </a:solidFill>
                <a:latin typeface="Inter"/>
              </a:rPr>
              <a:t>–  </a:t>
            </a:r>
          </a:p>
          <a:p>
            <a:pPr lvl="1">
              <a:lnSpc>
                <a:spcPct val="115000"/>
              </a:lnSpc>
              <a:spcAft>
                <a:spcPts val="300"/>
              </a:spcAft>
            </a:pPr>
            <a:r>
              <a:rPr sz="1150" b="0">
                <a:solidFill>
                  <a:srgbClr val="6E6689"/>
                </a:solidFill>
                <a:latin typeface="Inter"/>
              </a:rPr>
              <a:t>Proposed solution   3, 7</a:t>
            </a:r>
            <a:r>
              <a:rPr sz="1150" b="0">
                <a:solidFill>
                  <a:srgbClr val="6E6689"/>
                </a:solidFill>
                <a:latin typeface="Inter"/>
              </a:rPr>
              <a:t>–  </a:t>
            </a:r>
          </a:p>
          <a:p>
            <a:pPr lvl="1">
              <a:lnSpc>
                <a:spcPct val="115000"/>
              </a:lnSpc>
              <a:spcAft>
                <a:spcPts val="300"/>
              </a:spcAft>
            </a:pPr>
            <a:r>
              <a:rPr sz="1150" b="0">
                <a:solidFill>
                  <a:srgbClr val="6E6689"/>
                </a:solidFill>
                <a:latin typeface="Inter"/>
              </a:rPr>
              <a:t>Target users or use case   4</a:t>
            </a:r>
            <a:r>
              <a:rPr sz="1150" b="0">
                <a:solidFill>
                  <a:srgbClr val="6E6689"/>
                </a:solidFill>
                <a:latin typeface="Inter"/>
              </a:rPr>
              <a:t>–  </a:t>
            </a:r>
          </a:p>
          <a:p>
            <a:pPr lvl="1">
              <a:lnSpc>
                <a:spcPct val="115000"/>
              </a:lnSpc>
              <a:spcAft>
                <a:spcPts val="300"/>
              </a:spcAft>
            </a:pPr>
            <a:r>
              <a:rPr sz="1150" b="0">
                <a:solidFill>
                  <a:srgbClr val="6E6689"/>
                </a:solidFill>
                <a:latin typeface="Inter"/>
              </a:rPr>
              <a:t>Role of Machine Learning or AI   5</a:t>
            </a:r>
            <a:r>
              <a:rPr sz="1150" b="0">
                <a:solidFill>
                  <a:srgbClr val="6E6689"/>
                </a:solidFill>
                <a:latin typeface="Inter"/>
              </a:rPr>
              <a:t>–  </a:t>
            </a:r>
          </a:p>
          <a:p>
            <a:pPr lvl="1">
              <a:lnSpc>
                <a:spcPct val="115000"/>
              </a:lnSpc>
              <a:spcAft>
                <a:spcPts val="300"/>
              </a:spcAft>
            </a:pPr>
            <a:r>
              <a:rPr sz="1150" b="0">
                <a:solidFill>
                  <a:srgbClr val="6E6689"/>
                </a:solidFill>
                <a:latin typeface="Inter"/>
              </a:rPr>
              <a:t>Proposed TinyFish integration   6 (appendix in the repo README)</a:t>
            </a:r>
            <a:r>
              <a:rPr sz="1150" b="0">
                <a:solidFill>
                  <a:srgbClr val="6E6689"/>
                </a:solidFill>
                <a:latin typeface="Inter"/>
              </a:rPr>
              <a:t>–  </a:t>
            </a:r>
          </a:p>
          <a:p>
            <a:pPr lvl="1">
              <a:lnSpc>
                <a:spcPct val="115000"/>
              </a:lnSpc>
              <a:spcAft>
                <a:spcPts val="300"/>
              </a:spcAft>
            </a:pPr>
            <a:r>
              <a:rPr sz="1150" b="0">
                <a:solidFill>
                  <a:srgbClr val="6E6689"/>
                </a:solidFill>
                <a:latin typeface="Inter"/>
              </a:rPr>
              <a:t>Expected impact   9</a:t>
            </a:r>
            <a:r>
              <a:rPr sz="1150" b="0">
                <a:solidFill>
                  <a:srgbClr val="6E6689"/>
                </a:solidFill>
                <a:latin typeface="Inter"/>
              </a:rPr>
              <a:t>–  </a:t>
            </a:r>
          </a:p>
          <a:p>
            <a:pPr lvl="1">
              <a:lnSpc>
                <a:spcPct val="115000"/>
              </a:lnSpc>
              <a:spcAft>
                <a:spcPts val="300"/>
              </a:spcAft>
            </a:pPr>
            <a:r>
              <a:rPr sz="1150" b="0">
                <a:solidFill>
                  <a:srgbClr val="6E6689"/>
                </a:solidFill>
                <a:latin typeface="Inter"/>
              </a:rPr>
              <a:t>Feasibility   11</a:t>
            </a:r>
            <a:r>
              <a:rPr sz="1150" b="0">
                <a:solidFill>
                  <a:srgbClr val="6E6689"/>
                </a:solidFill>
                <a:latin typeface="Inter"/>
              </a:rPr>
              <a:t>–  </a:t>
            </a:r>
          </a:p>
          <a:p>
            <a:pPr lvl="1">
              <a:lnSpc>
                <a:spcPct val="115000"/>
              </a:lnSpc>
              <a:spcAft>
                <a:spcPts val="300"/>
              </a:spcAft>
            </a:pPr>
            <a:r>
              <a:rPr sz="1150" b="0">
                <a:solidFill>
                  <a:srgbClr val="6E6689"/>
                </a:solidFill>
                <a:latin typeface="Inter"/>
              </a:rPr>
              <a:t>Future scope   12</a:t>
            </a:r>
            <a:r>
              <a:rPr sz="1150" b="0">
                <a:solidFill>
                  <a:srgbClr val="6E6689"/>
                </a:solidFill>
                <a:latin typeface="Inter"/>
              </a:rPr>
              <a:t>–  </a:t>
            </a:r>
          </a:p>
          <a:p>
            <a:pPr lvl="1">
              <a:lnSpc>
                <a:spcPct val="115000"/>
              </a:lnSpc>
              <a:spcAft>
                <a:spcPts val="300"/>
              </a:spcAft>
            </a:pPr>
            <a:r>
              <a:rPr sz="1150" b="0">
                <a:solidFill>
                  <a:srgbClr val="6E6689"/>
                </a:solidFill>
                <a:latin typeface="Inter"/>
              </a:rPr>
              <a:t>Revenue model   10</a:t>
            </a:r>
            <a:r>
              <a:rPr sz="1150" b="0">
                <a:solidFill>
                  <a:srgbClr val="6E6689"/>
                </a:solidFill>
                <a:latin typeface="Inter"/>
              </a:rPr>
              <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0584"/>
          </a:xfrm>
          <a:prstGeom prst="rect">
            <a:avLst/>
          </a:prstGeom>
          <a:solidFill>
            <a:srgbClr val="E9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Appendix C - Ethics and safety commitments</a:t>
            </a:r>
          </a:p>
        </p:txBody>
      </p:sp>
      <p:sp>
        <p:nvSpPr>
          <p:cNvPr id="6" name="TextBox 5"/>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**Human in the loop, twice.** Approval before the agent types, and a separate</a:t>
            </a:r>
            <a:r>
              <a:rPr sz="1300" b="1">
                <a:solidFill>
                  <a:srgbClr val="F2603F"/>
                </a:solidFill>
                <a:latin typeface="Inter"/>
              </a:rPr>
              <a:t>•  </a:t>
            </a:r>
          </a:p>
          <a:p>
            <a:pPr lvl="1">
              <a:lnSpc>
                <a:spcPct val="115000"/>
              </a:lnSpc>
              <a:spcAft>
                <a:spcPts val="300"/>
              </a:spcAft>
            </a:pPr>
            <a:r>
              <a:rPr sz="1150" b="0">
                <a:solidFill>
                  <a:srgbClr val="6E6689"/>
                </a:solidFill>
                <a:latin typeface="Inter"/>
              </a:rPr>
              <a:t>approval before it submits.</a:t>
            </a:r>
            <a:r>
              <a:rPr sz="1150" b="0">
                <a:solidFill>
                  <a:srgbClr val="6E6689"/>
                </a:solidFill>
                <a:latin typeface="Inter"/>
              </a:rPr>
              <a:t>–  </a:t>
            </a:r>
          </a:p>
          <a:p>
            <a:pPr>
              <a:lnSpc>
                <a:spcPct val="115000"/>
              </a:lnSpc>
              <a:spcAft>
                <a:spcPts val="700"/>
              </a:spcAft>
            </a:pPr>
            <a:r>
              <a:rPr sz="1300" b="1">
                <a:solidFill>
                  <a:srgbClr val="2C2540"/>
                </a:solidFill>
                <a:latin typeface="Inter"/>
              </a:rPr>
              <a:t>**No invention.** The agent is instructed to leave a field empty and report it</a:t>
            </a:r>
            <a:r>
              <a:rPr sz="1300" b="1">
                <a:solidFill>
                  <a:srgbClr val="F2603F"/>
                </a:solidFill>
                <a:latin typeface="Inter"/>
              </a:rPr>
              <a:t>•  </a:t>
            </a:r>
          </a:p>
          <a:p>
            <a:pPr lvl="1">
              <a:lnSpc>
                <a:spcPct val="115000"/>
              </a:lnSpc>
              <a:spcAft>
                <a:spcPts val="300"/>
              </a:spcAft>
            </a:pPr>
            <a:r>
              <a:rPr sz="1150" b="0">
                <a:solidFill>
                  <a:srgbClr val="6E6689"/>
                </a:solidFill>
                <a:latin typeface="Inter"/>
              </a:rPr>
              <a:t>rather than guess. ReclaimYourNet surfaces those gaps to the user.</a:t>
            </a:r>
            <a:r>
              <a:rPr sz="1150" b="0">
                <a:solidFill>
                  <a:srgbClr val="6E6689"/>
                </a:solidFill>
                <a:latin typeface="Inter"/>
              </a:rPr>
              <a:t>–  </a:t>
            </a:r>
          </a:p>
          <a:p>
            <a:pPr>
              <a:lnSpc>
                <a:spcPct val="115000"/>
              </a:lnSpc>
              <a:spcAft>
                <a:spcPts val="700"/>
              </a:spcAft>
            </a:pPr>
            <a:r>
              <a:rPr sz="1300" b="1">
                <a:solidFill>
                  <a:srgbClr val="2C2540"/>
                </a:solidFill>
                <a:latin typeface="Inter"/>
              </a:rPr>
              <a:t>**Privacy by default.** Addresses, ID numbers, card and bank details are</a:t>
            </a:r>
            <a:r>
              <a:rPr sz="1300" b="1">
                <a:solidFill>
                  <a:srgbClr val="F2603F"/>
                </a:solidFill>
                <a:latin typeface="Inter"/>
              </a:rPr>
              <a:t>•  </a:t>
            </a:r>
          </a:p>
          <a:p>
            <a:pPr lvl="1">
              <a:lnSpc>
                <a:spcPct val="115000"/>
              </a:lnSpc>
              <a:spcAft>
                <a:spcPts val="300"/>
              </a:spcAft>
            </a:pPr>
            <a:r>
              <a:rPr sz="1150" b="0">
                <a:solidFill>
                  <a:srgbClr val="6E6689"/>
                </a:solidFill>
                <a:latin typeface="Inter"/>
              </a:rPr>
              <a:t>masked in every shared artifact and only revealed on request.</a:t>
            </a:r>
            <a:r>
              <a:rPr sz="1150" b="0">
                <a:solidFill>
                  <a:srgbClr val="6E6689"/>
                </a:solidFill>
                <a:latin typeface="Inter"/>
              </a:rPr>
              <a:t>–  </a:t>
            </a:r>
          </a:p>
          <a:p>
            <a:pPr>
              <a:lnSpc>
                <a:spcPct val="115000"/>
              </a:lnSpc>
              <a:spcAft>
                <a:spcPts val="700"/>
              </a:spcAft>
            </a:pPr>
            <a:r>
              <a:rPr sz="1300" b="1">
                <a:solidFill>
                  <a:srgbClr val="2C2540"/>
                </a:solidFill>
                <a:latin typeface="Inter"/>
              </a:rPr>
              <a:t>**Legal repair, not censorship.** ReclaimYourNet routes to the body with the legal</a:t>
            </a:r>
            <a:r>
              <a:rPr sz="1300" b="1">
                <a:solidFill>
                  <a:srgbClr val="F2603F"/>
                </a:solidFill>
                <a:latin typeface="Inter"/>
              </a:rPr>
              <a:t>•  </a:t>
            </a:r>
          </a:p>
          <a:p>
            <a:pPr lvl="1">
              <a:lnSpc>
                <a:spcPct val="115000"/>
              </a:lnSpc>
              <a:spcAft>
                <a:spcPts val="300"/>
              </a:spcAft>
            </a:pPr>
            <a:r>
              <a:rPr sz="1150" b="0">
                <a:solidFill>
                  <a:srgbClr val="6E6689"/>
                </a:solidFill>
                <a:latin typeface="Inter"/>
              </a:rPr>
              <a:t>authority to act. It does not decide what is true.</a:t>
            </a:r>
            <a:r>
              <a:rPr sz="1150" b="0">
                <a:solidFill>
                  <a:srgbClr val="6E6689"/>
                </a:solidFill>
                <a:latin typeface="Inter"/>
              </a:rPr>
              <a:t>–  </a:t>
            </a:r>
          </a:p>
          <a:p>
            <a:pPr>
              <a:lnSpc>
                <a:spcPct val="115000"/>
              </a:lnSpc>
              <a:spcAft>
                <a:spcPts val="700"/>
              </a:spcAft>
            </a:pPr>
            <a:r>
              <a:rPr sz="1300" b="1">
                <a:solidFill>
                  <a:srgbClr val="2C2540"/>
                </a:solidFill>
                <a:latin typeface="Inter"/>
              </a:rPr>
              <a:t>**No dark patterns, no data resale.** Evidence is a private artefact by</a:t>
            </a:r>
            <a:r>
              <a:rPr sz="1300" b="1">
                <a:solidFill>
                  <a:srgbClr val="F2603F"/>
                </a:solidFill>
                <a:latin typeface="Inter"/>
              </a:rPr>
              <a:t>•  </a:t>
            </a:r>
          </a:p>
          <a:p>
            <a:pPr lvl="1">
              <a:lnSpc>
                <a:spcPct val="115000"/>
              </a:lnSpc>
              <a:spcAft>
                <a:spcPts val="300"/>
              </a:spcAft>
            </a:pPr>
            <a:r>
              <a:rPr sz="1150" b="0">
                <a:solidFill>
                  <a:srgbClr val="6E6689"/>
                </a:solidFill>
                <a:latin typeface="Inter"/>
              </a:rPr>
              <a:t>default; sharing is an explicit action.</a:t>
            </a:r>
            <a:r>
              <a:rPr sz="1150" b="0">
                <a:solidFill>
                  <a:srgbClr val="6E6689"/>
                </a:solidFill>
                <a:latin typeface="Inter"/>
              </a:rPr>
              <a: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F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00584"/>
          </a:xfrm>
          <a:prstGeom prst="rect">
            <a:avLst/>
          </a:prstGeom>
          <a:solidFill>
            <a:srgbClr val="E9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11480"/>
            <a:ext cx="10607040" cy="731520"/>
          </a:xfrm>
          <a:prstGeom prst="rect">
            <a:avLst/>
          </a:prstGeom>
          <a:noFill/>
        </p:spPr>
        <p:txBody>
          <a:bodyPr wrap="square">
            <a:spAutoFit/>
          </a:bodyPr>
          <a:lstStyle/>
          <a:p>
            <a:pPr>
              <a:lnSpc>
                <a:spcPct val="100000"/>
              </a:lnSpc>
            </a:pPr>
            <a:r>
              <a:rPr sz="3000" b="1">
                <a:solidFill>
                  <a:srgbClr val="2C2540"/>
                </a:solidFill>
                <a:latin typeface="Inter"/>
              </a:rPr>
              <a:t>Appendix D - The workflow, step by step</a:t>
            </a:r>
          </a:p>
        </p:txBody>
      </p:sp>
      <p:sp>
        <p:nvSpPr>
          <p:cNvPr id="6" name="TextBox 5"/>
          <p:cNvSpPr txBox="1"/>
          <p:nvPr/>
        </p:nvSpPr>
        <p:spPr>
          <a:xfrm>
            <a:off x="777240" y="1325880"/>
            <a:ext cx="10607040" cy="4983480"/>
          </a:xfrm>
          <a:prstGeom prst="rect">
            <a:avLst/>
          </a:prstGeom>
          <a:noFill/>
        </p:spPr>
        <p:txBody>
          <a:bodyPr wrap="square">
            <a:spAutoFit/>
          </a:bodyPr>
          <a:lstStyle/>
          <a:p>
            <a:pPr>
              <a:lnSpc>
                <a:spcPct val="115000"/>
              </a:lnSpc>
              <a:spcAft>
                <a:spcPts val="700"/>
              </a:spcAft>
            </a:pPr>
            <a:r>
              <a:rPr sz="1300" b="1">
                <a:solidFill>
                  <a:srgbClr val="2C2540"/>
                </a:solidFill>
                <a:latin typeface="Inter"/>
              </a:rPr>
              <a:t>**For the person using it (they should never be confused):**</a:t>
            </a:r>
            <a:r>
              <a:rPr sz="1300" b="1">
                <a:solidFill>
                  <a:srgbClr val="F2603F"/>
                </a:solidFill>
                <a:latin typeface="Inter"/>
              </a:rPr>
              <a:t>•  </a:t>
            </a:r>
          </a:p>
          <a:p>
            <a:pPr lvl="1">
              <a:lnSpc>
                <a:spcPct val="115000"/>
              </a:lnSpc>
              <a:spcAft>
                <a:spcPts val="300"/>
              </a:spcAft>
            </a:pPr>
            <a:r>
              <a:rPr sz="1150" b="0">
                <a:solidFill>
                  <a:srgbClr val="6E6689"/>
                </a:solidFill>
                <a:latin typeface="Inter"/>
              </a:rPr>
              <a:t>#   What they see   What they do   What is happening underneath</a:t>
            </a:r>
            <a:r>
              <a:rPr sz="1150" b="0">
                <a:solidFill>
                  <a:srgbClr val="6E6689"/>
                </a:solidFill>
                <a:latin typeface="Inter"/>
              </a:rPr>
              <a:t>–  </a:t>
            </a:r>
          </a:p>
          <a:p>
            <a:pPr lvl="1">
              <a:lnSpc>
                <a:spcPct val="115000"/>
              </a:lnSpc>
              <a:spcAft>
                <a:spcPts val="300"/>
              </a:spcAft>
            </a:pPr>
            <a:r>
              <a:rPr sz="1150" b="0">
                <a:solidFill>
                  <a:srgbClr val="6E6689"/>
                </a:solidFill>
                <a:latin typeface="Inter"/>
              </a:rPr>
              <a:t>1   **"What happened?"** - one box, a Dictate button, an "Add my details" link, three example chips   Type or dictate one sentence   The text is read by a local model. It labels the incident type, extracts the platform, amount, dates, links and phone numbers, and masks anything personal. Nothing is sent to any platform yet.</a:t>
            </a:r>
            <a:r>
              <a:rPr sz="1150" b="0">
                <a:solidFill>
                  <a:srgbClr val="6E6689"/>
                </a:solidFill>
                <a:latin typeface="Inter"/>
              </a:rPr>
              <a:t>–  </a:t>
            </a:r>
          </a:p>
          <a:p>
            <a:pPr lvl="1">
              <a:lnSpc>
                <a:spcPct val="115000"/>
              </a:lnSpc>
              <a:spcAft>
                <a:spcPts val="300"/>
              </a:spcAft>
            </a:pPr>
            <a:r>
              <a:rPr sz="1150" b="0">
                <a:solidFill>
                  <a:srgbClr val="6E6689"/>
                </a:solidFill>
                <a:latin typeface="Inter"/>
              </a:rPr>
              <a:t>2   **"Here is where this needs to be reported."** + a yellow or red urgency banner   Read it   The urgency banner is not a score - it is a sentence: *"Money was moved. A freeze is only realistically possible if reported within 24 hours."*</a:t>
            </a:r>
            <a:r>
              <a:rPr sz="1150" b="0">
                <a:solidFill>
                  <a:srgbClr val="6E6689"/>
                </a:solidFill>
                <a:latin typeface="Inter"/>
              </a:rPr>
              <a:t>–  </a:t>
            </a:r>
          </a:p>
          <a:p>
            <a:pPr lvl="1">
              <a:lnSpc>
                <a:spcPct val="115000"/>
              </a:lnSpc>
              <a:spcAft>
                <a:spcPts val="300"/>
              </a:spcAft>
            </a:pPr>
            <a:r>
              <a:rPr sz="1150" b="0">
                <a:solidFill>
                  <a:srgbClr val="6E6689"/>
                </a:solidFill>
                <a:latin typeface="Inter"/>
              </a:rPr>
              <a:t>3   **"How this works"** (collapsed, one click)   Optionally open it   Four plain-English steps, so a first-time visitor always knows where they are.</a:t>
            </a:r>
            <a:r>
              <a:rPr sz="1150" b="0">
                <a:solidFill>
                  <a:srgbClr val="6E6689"/>
                </a:solidFill>
                <a:latin typeface="Inter"/>
              </a:rPr>
              <a:t>–  </a:t>
            </a:r>
          </a:p>
          <a:p>
            <a:pPr lvl="1">
              <a:lnSpc>
                <a:spcPct val="115000"/>
              </a:lnSpc>
              <a:spcAft>
                <a:spcPts val="300"/>
              </a:spcAft>
            </a:pPr>
            <a:r>
              <a:rPr sz="1150" b="0">
                <a:solidFill>
                  <a:srgbClr val="6E6689"/>
                </a:solidFill>
                <a:latin typeface="Inter"/>
              </a:rPr>
              <a:t>4   **"Your details"**   Press Edit, add name / email / mobile / city, press Save   Every form below is rebuilt with the new values, and anything typed by hand is kept. This is also what turns a city into the right local police station and State Commission.</a:t>
            </a:r>
            <a:r>
              <a:rPr sz="1150" b="0">
                <a:solidFill>
                  <a:srgbClr val="6E6689"/>
                </a:solidFill>
                <a:latin typeface="Inter"/>
              </a:rPr>
              <a:t>–  </a:t>
            </a:r>
          </a:p>
          <a:p>
            <a:pPr lvl="1">
              <a:lnSpc>
                <a:spcPct val="115000"/>
              </a:lnSpc>
              <a:spcAft>
                <a:spcPts val="300"/>
              </a:spcAft>
            </a:pPr>
            <a:r>
              <a:rPr sz="1150" b="0">
                <a:solidFill>
                  <a:srgbClr val="6E6689"/>
                </a:solidFill>
                <a:latin typeface="Inter"/>
              </a:rPr>
              <a:t>5   **"N things we still need from you"**   Type into the yellow boxes   The agent will not guess a required field on a bank or a government form. Most of these disappear the moment step 4 is filled, because they are just your own details.</a:t>
            </a:r>
            <a:r>
              <a:rPr sz="1150" b="0">
                <a:solidFill>
                  <a:srgbClr val="6E6689"/>
                </a:solidFill>
                <a:latin typeface="Inter"/>
              </a:rPr>
              <a:t>–  </a:t>
            </a:r>
          </a:p>
          <a:p>
            <a:pPr lvl="1">
              <a:lnSpc>
                <a:spcPct val="115000"/>
              </a:lnSpc>
              <a:spcAft>
                <a:spcPts val="300"/>
              </a:spcAft>
            </a:pPr>
            <a:r>
              <a:rPr sz="1150" b="0">
                <a:solidFill>
                  <a:srgbClr val="6E6689"/>
                </a:solidFill>
                <a:latin typeface="Inter"/>
              </a:rPr>
              <a:t>6   **The coverage map**, grouped and numbered: 01 remove it from the platform, 02 create a legal record, 03 stop the money, 04 take it down before it spreads, 05 shrink the blast radius   Open one, press "Read the form"   A TinyFish agent opens the real page, finds the actual form, and returns the fields it has *today* - labels, required flags, dropdown options, what evidence it wants.</a:t>
            </a:r>
            <a:r>
              <a:rPr sz="1150" b="0">
                <a:solidFill>
                  <a:srgbClr val="6E6689"/>
                </a:solidFill>
                <a:latin typeface="Inter"/>
              </a:rPr>
              <a:t>–  </a:t>
            </a:r>
          </a:p>
          <a:p>
            <a:pPr lvl="1">
              <a:lnSpc>
                <a:spcPct val="115000"/>
              </a:lnSpc>
              <a:spcAft>
                <a:spcPts val="300"/>
              </a:spcAft>
            </a:pPr>
            <a:r>
              <a:rPr sz="1150" b="0">
                <a:solidFill>
                  <a:srgbClr val="6E6689"/>
                </a:solidFill>
                <a:latin typeface="Inter"/>
              </a:rPr>
              <a:t>7   The same card, expanded: your details, what they will ask for, the timing, and the buttons   Check the values, press "Fill &amp; submit"   The agent types the approved values, stops before Submit, and submits only on that explicit second approval. You get a reference number back.</a:t>
            </a:r>
            <a:r>
              <a:rPr sz="1150" b="0">
                <a:solidFill>
                  <a:srgbClr val="6E6689"/>
                </a:solidFill>
                <a:latin typeface="Inter"/>
              </a:rPr>
              <a:t>–  </a:t>
            </a:r>
          </a:p>
          <a:p>
            <a:pPr lvl="1">
              <a:lnSpc>
                <a:spcPct val="115000"/>
              </a:lnSpc>
              <a:spcAft>
                <a:spcPts val="300"/>
              </a:spcAft>
            </a:pPr>
            <a:r>
              <a:rPr sz="1150" b="0">
                <a:solidFill>
                  <a:srgbClr val="6E6689"/>
                </a:solidFill>
                <a:latin typeface="Inter"/>
              </a:rPr>
              <a:t>8   **"What the agent did"** - the live browser, the timeline, the log   Watch   The agent's own browser is embedded, streamed live over SSE.</a:t>
            </a:r>
            <a:r>
              <a:rPr sz="1150" b="0">
                <a:solidFill>
                  <a:srgbClr val="6E6689"/>
                </a:solidFill>
                <a:latin typeface="Inter"/>
              </a:rPr>
              <a:t>–  </a:t>
            </a:r>
          </a:p>
          <a:p>
            <a:pPr lvl="1">
              <a:lnSpc>
                <a:spcPct val="115000"/>
              </a:lnSpc>
              <a:spcAft>
                <a:spcPts val="300"/>
              </a:spcAft>
            </a:pPr>
            <a:r>
              <a:rPr sz="1150" b="0">
                <a:solidFill>
                  <a:srgbClr val="6E6689"/>
                </a:solidFill>
                <a:latin typeface="Inter"/>
              </a:rPr>
              <a:t>9   **"Your proof, and what we keep watching"**   Download the case file, press "Start watching"   A SHA-256 chain over every page read and every reference number, exported as a PDF a bank or a police station will accept. Then a TinyFish Monitor re-checks the reported page every six hours.</a:t>
            </a:r>
            <a:r>
              <a:rPr sz="1150" b="0">
                <a:solidFill>
                  <a:srgbClr val="6E6689"/>
                </a:solidFill>
                <a:latin typeface="Inter"/>
              </a:rPr>
              <a:t>–  </a:t>
            </a:r>
          </a:p>
          <a:p>
            <a:pPr lvl="1">
              <a:lnSpc>
                <a:spcPct val="115000"/>
              </a:lnSpc>
              <a:spcAft>
                <a:spcPts val="300"/>
              </a:spcAft>
            </a:pPr>
            <a:r>
              <a:rPr sz="1150" b="0">
                <a:solidFill>
                  <a:srgbClr val="6E6689"/>
                </a:solidFill>
                <a:latin typeface="Inter"/>
              </a:rPr>
              <a:t>10   **"What it costs"**   Read   Free for the person. The money comes from the banks and platforms that receive the reports.</a:t>
            </a:r>
            <a:r>
              <a:rPr sz="1150" b="0">
                <a:solidFill>
                  <a:srgbClr val="6E6689"/>
                </a:solidFill>
                <a:latin typeface="Inter"/>
              </a:rPr>
              <a:t>–  </a:t>
            </a:r>
          </a:p>
          <a:p>
            <a:pPr>
              <a:lnSpc>
                <a:spcPct val="115000"/>
              </a:lnSpc>
              <a:spcAft>
                <a:spcPts val="700"/>
              </a:spcAft>
            </a:pPr>
            <a:r>
              <a:rPr sz="1300" b="1">
                <a:solidFill>
                  <a:srgbClr val="2C2540"/>
                </a:solidFill>
                <a:latin typeface="Inter"/>
              </a:rPr>
              <a:t>**For the judge (what is actually being demonstrated):**</a:t>
            </a:r>
            <a:r>
              <a:rPr sz="1300" b="1">
                <a:solidFill>
                  <a:srgbClr val="F2603F"/>
                </a:solidFill>
                <a:latin typeface="Inter"/>
              </a:rPr>
              <a:t>•  </a:t>
            </a:r>
          </a:p>
          <a:p>
            <a:pPr>
              <a:lnSpc>
                <a:spcPct val="115000"/>
              </a:lnSpc>
              <a:spcAft>
                <a:spcPts val="700"/>
              </a:spcAft>
            </a:pPr>
            <a:r>
              <a:rPr sz="1300" b="1">
                <a:solidFill>
                  <a:srgbClr val="2C2540"/>
                </a:solidFill>
                <a:latin typeface="Inter"/>
              </a:rPr>
              <a:t>The triage is a real model with a published 5-fold cross-validation.</a:t>
            </a:r>
            <a:r>
              <a:rPr sz="1300" b="1">
                <a:solidFill>
                  <a:srgbClr val="F2603F"/>
                </a:solidFill>
                <a:latin typeface="Inter"/>
              </a:rPr>
              <a:t>•  </a:t>
            </a:r>
          </a:p>
          <a:p>
            <a:pPr>
              <a:lnSpc>
                <a:spcPct val="115000"/>
              </a:lnSpc>
              <a:spcAft>
                <a:spcPts val="700"/>
              </a:spcAft>
            </a:pPr>
            <a:r>
              <a:rPr sz="1300" b="1">
                <a:solidFill>
                  <a:srgbClr val="2C2540"/>
                </a:solidFill>
                <a:latin typeface="Inter"/>
              </a:rPr>
              <a:t>Every URL in the coverage map was found live, in that run, by the TinyFish</a:t>
            </a:r>
            <a:r>
              <a:rPr sz="1300" b="1">
                <a:solidFill>
                  <a:srgbClr val="F2603F"/>
                </a:solidFill>
                <a:latin typeface="Inter"/>
              </a:rPr>
              <a:t>•  </a:t>
            </a:r>
          </a:p>
          <a:p>
            <a:pPr lvl="1">
              <a:lnSpc>
                <a:spcPct val="115000"/>
              </a:lnSpc>
              <a:spcAft>
                <a:spcPts val="300"/>
              </a:spcAft>
            </a:pPr>
            <a:r>
              <a:rPr sz="1150" b="0">
                <a:solidFill>
                  <a:srgbClr val="6E6689"/>
                </a:solidFill>
                <a:latin typeface="Inter"/>
              </a:rPr>
              <a:t>Search API - and the city-specific ones could not have been hard-coded.</a:t>
            </a:r>
            <a:r>
              <a:rPr sz="1150" b="0">
                <a:solidFill>
                  <a:srgbClr val="6E6689"/>
                </a:solidFill>
                <a:latin typeface="Inter"/>
              </a:rPr>
              <a:t>–  </a:t>
            </a:r>
          </a:p>
          <a:p>
            <a:pPr>
              <a:lnSpc>
                <a:spcPct val="115000"/>
              </a:lnSpc>
              <a:spcAft>
                <a:spcPts val="700"/>
              </a:spcAft>
            </a:pPr>
            <a:r>
              <a:rPr sz="1300" b="1">
                <a:solidFill>
                  <a:srgbClr val="2C2540"/>
                </a:solidFill>
                <a:latin typeface="Inter"/>
              </a:rPr>
              <a:t>The form fields, including the dropdown options, were read live by the</a:t>
            </a:r>
            <a:r>
              <a:rPr sz="1300" b="1">
                <a:solidFill>
                  <a:srgbClr val="F2603F"/>
                </a:solidFill>
                <a:latin typeface="Inter"/>
              </a:rPr>
              <a:t>•  </a:t>
            </a:r>
          </a:p>
          <a:p>
            <a:pPr lvl="1">
              <a:lnSpc>
                <a:spcPct val="115000"/>
              </a:lnSpc>
              <a:spcAft>
                <a:spcPts val="300"/>
              </a:spcAft>
            </a:pPr>
            <a:r>
              <a:rPr sz="1150" b="0">
                <a:solidFill>
                  <a:srgbClr val="6E6689"/>
                </a:solidFill>
                <a:latin typeface="Inter"/>
              </a:rPr>
              <a:t>TinyFish Web Agent off the real page.</a:t>
            </a:r>
            <a:r>
              <a:rPr sz="1150" b="0">
                <a:solidFill>
                  <a:srgbClr val="6E6689"/>
                </a:solidFill>
                <a:latin typeface="Inter"/>
              </a:rPr>
              <a:t>–  </a:t>
            </a:r>
          </a:p>
          <a:p>
            <a:pPr>
              <a:lnSpc>
                <a:spcPct val="115000"/>
              </a:lnSpc>
              <a:spcAft>
                <a:spcPts val="700"/>
              </a:spcAft>
            </a:pPr>
            <a:r>
              <a:rPr sz="1300" b="1">
                <a:solidFill>
                  <a:srgbClr val="2C2540"/>
                </a:solidFill>
                <a:latin typeface="Inter"/>
              </a:rPr>
              <a:t>The reference number in the evidence vault came from an actual submission.</a:t>
            </a:r>
            <a:r>
              <a:rPr sz="1300" b="1">
                <a:solidFill>
                  <a:srgbClr val="F2603F"/>
                </a:solidFill>
                <a:latin typeface="Inter"/>
              </a:rPr>
              <a:t>•  </a:t>
            </a:r>
          </a:p>
          <a:p>
            <a:pPr>
              <a:lnSpc>
                <a:spcPct val="115000"/>
              </a:lnSpc>
              <a:spcAft>
                <a:spcPts val="700"/>
              </a:spcAft>
            </a:pPr>
            <a:r>
              <a:rPr sz="1300" b="1">
                <a:solidFill>
                  <a:srgbClr val="2C2540"/>
                </a:solidFill>
                <a:latin typeface="Inter"/>
              </a:rPr>
              <a:t>The monitor in the follow-up panel is a real TinyFish Monitor, running.</a:t>
            </a:r>
            <a:r>
              <a:rPr sz="1300" b="1">
                <a:solidFill>
                  <a:srgbClr val="F2603F"/>
                </a:solidFill>
                <a:latin typeface="Inter"/>
              </a:rPr>
              <a:t>•  </a:t>
            </a:r>
          </a:p>
          <a:p>
            <a:pPr>
              <a:lnSpc>
                <a:spcPct val="115000"/>
              </a:lnSpc>
              <a:spcAft>
                <a:spcPts val="700"/>
              </a:spcAft>
            </a:pPr>
            <a:r>
              <a:rPr sz="1300" b="1">
                <a:solidFill>
                  <a:srgbClr val="2C2540"/>
                </a:solidFill>
                <a:latin typeface="Inter"/>
              </a:rPr>
              <a:t>**Nothing in the product submits anything a human has not approved.**</a:t>
            </a:r>
            <a:r>
              <a:rPr sz="1300" b="1">
                <a:solidFill>
                  <a:srgbClr val="F2603F"/>
                </a:solidFill>
                <a:latin typeface="Inter"/>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